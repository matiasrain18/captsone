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3BBA5E0A-9628-128F-E856-3E635C8D7B24}">
          <p14:sldIdLst>
            <p14:sldId id="256"/>
          </p14:sldIdLst>
        </p14:section>
        <p14:section name="Avance" id="{789566FF-AD8A-EF86-9172-5423AEE0EC19}">
          <p14:sldIdLst>
            <p14:sldId id="257"/>
            <p14:sldId id="258"/>
            <p14:sldId id="259"/>
            <p14:sldId id="260"/>
          </p14:sldIdLst>
        </p14:section>
        <p14:section name="Cómo quedó construido" id="{69CF4749-EC19-AF24-E29A-F45493542614}">
          <p14:sldIdLst>
            <p14:sldId id="261"/>
            <p14:sldId id="262"/>
            <p14:sldId id="263"/>
            <p14:sldId id="264"/>
          </p14:sldIdLst>
        </p14:section>
        <p14:section name="Plan y cierre" id="{782002CE-EC5F-B8F8-595C-BA898F23748D}">
          <p14:sldIdLst>
            <p14:sldId id="265"/>
            <p14:sldId id="266"/>
            <p14:sldId id="267"/>
          </p14:sldIdLst>
        </p14:section>
        <p14:section name="Cierre" id="{D1A575F3-CC41-269A-AACA-78F57DD9FD5A}">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9468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profesor. Somos Matías Rain y Daniel Cruz, y hoy le mostramos cuánto avanzó el Sistema Unidad Territorial desde la presentación de la Fase 1. En ese momento teníamos la propuesta y el plan; ahora tenemos el sistema completo funcionando, con los cinco módulos integrados.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resume el avance. En la Fase 1 teníamos los requerimientos, los cinco módulos planificados y el stack elegido. Hoy el sistema está construido y los cinco módulos funcionan integrados, sumamos la administración de la directiva, los correos llegan de verdad y los certificados se descargan en PDF y se pueden verificar. Además ya hicimos diez rondas de pruebas e incorporamos las siete mejoras que nos pidió en la revisión de avance.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comparamos módulo por módulo. A la izquierda está lo que comprometimos en la Fase 1 y al centro lo que hace hoy el sistema. Los cinco módulos están completos y en varios casos fuimos más allá de lo prometido, por ejemplo la verificación pública del certificado o el aviso cuando una reserva choca con otra. La directiva es un módulo nuevo que nació de su revisión.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Fase 1 le mostramos el tablero con casi todo por hacer. Hoy el desarrollo completo está en Listo, incluidas la integración y sus mejoras. Lo que estamos haciendo ahora es pasar las diez rondas de pruebas al documento de control y pruebas, y lo único pendiente es la documentación de cierre y la retrospectiva, que corresponden a las últimas semanas.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 la revisión de avance usted nos pidió varias mejoras y las incorporamos todas. Como el AJAX y el rediseño tocaban casi todos los archivos, las hicimos de una sola vez y después repetimos todas las pruebas para asegurarnos de que el sistema siguiera funcionando igual.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funciona como un servicio web en XAMPP. El navegador envía las peticiones por AJAX, el PHP valida los datos y los permisos de cada junta, trabaja con la base de datos con consultas preparadas y responde en JSON, así la página se actualiza sin recargarse. Para los certificados usamos FPDF y para los correos PHPMailer con una cuenta de Gmail. Abajo se ve que mantuvimos el stack de la Fase 1 y le sumamos estas librerías.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multi-operación era una de sus observaciones de la Fase 1. Ahora está implementada: cada registro queda asociado a su junta y la sesión guarda a qué junta pertenece el usuario. En la captura se ve que si el directorio intenta mandar un aviso a un RUT de otra junta, el sistema no lo deja. También creamos una junta nueva de Valparaíso y comprobamos que su secretario solo ve la información de su junta.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Fase 1 investigamos cómo funcionan los certificados de residencia y de socio activo, y le propusimos un flujo con aprobación y PDF. Ese flujo ya está completo: el vecino solicita indicando el motivo, el directorio aprueba o rechaza, al vecino le llega un correo, descarga el PDF con la firma del presidente y el sello digital, y con el código cualquier persona puede comprobar en línea que el certificado es auténtico.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capturas del sistema funcionando con datos simulados. Arriba a la izquierda está el panel del directorio con lo pendiente, abajo el aviso cuando una reserva choca con otra aprobada el mismo día. Al centro el panel del vecino y una actividad con los cupos llenos. A la derecha la vista en el celular, el correo de aprobación que le llega al vecino y el aviso que aparece cuando a la junta le falta presidente, secretario o tesorero.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mismo plan de trabajo de la Fase 1, ahora con su estado. Seis actividades están completas, incluida una nueva para las mejoras que usted pidió. El análisis de hosting lo ajustamos con usted: quedamos en XAMPP local y la publicación como mejora futura. Las pruebas están en curso y la documentación de cierre corresponde a las últimas semanas, así que no tenemos actividades atrasadas.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tuvimos dificultades. Lo más complicado fue el correo: Google desactivó la primera cuenta y después el antivirus bloqueaba la conexión segura. En más de una ocasión MySQL dejó de funcionar y hubo que reinstalar XAMPP; desde ahí respaldamos siempre el proyecto y la base de datos. Y revisamos los nombres de los archivos para que funcionen igual en Windows y en un servidor Linux.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entrega final nos queda dejar por escrito las pruebas en el documento de control y pruebas, completar la documentación de cierre y la retrospectiva, y preparar la presentación final. Como mejora futura queda publicar el sistema en un hosting que permita el envío de correos.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Eso es lo que llevamos hasta ahora. Muchas gracias por su atención, quedamos atentos a sus preguntas y comentarios.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accent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22960" y="2103120"/>
            <a:ext cx="9144000" cy="365760"/>
          </a:xfrm>
          <a:prstGeom prst="rect">
            <a:avLst/>
          </a:prstGeom>
          <a:noFill/>
          <a:ln/>
        </p:spPr>
        <p:txBody>
          <a:bodyPr wrap="square" rtlCol="0"/>
          <a:lstStyle>
            <a:lvl1pPr marL="0" indent="0">
              <a:buNone/>
              <a:defRPr lang="en-US" sz="1400" b="1" kern="0" spc="200" dirty="0">
                <a:solidFill>
                  <a:schemeClr val="accent1"/>
                </a:solidFill>
              </a:defRPr>
            </a:lvl1pPr>
          </a:lstStyle>
          <a:p>
            <a:pPr marL="0" indent="0">
              <a:buNone/>
            </a:pPr>
            <a:endParaRPr lang="en-US" sz="1400" dirty="0"/>
          </a:p>
        </p:txBody>
      </p:sp>
      <p:sp>
        <p:nvSpPr>
          <p:cNvPr id="3" name="Text 0"/>
          <p:cNvSpPr>
            <a:spLocks noGrp="1"/>
          </p:cNvSpPr>
          <p:nvPr>
            <p:ph type="title" idx="101" hasCustomPrompt="1"/>
          </p:nvPr>
        </p:nvSpPr>
        <p:spPr>
          <a:xfrm>
            <a:off x="822960" y="2468880"/>
            <a:ext cx="10515600" cy="91440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rtlCol="0"/>
          <a:lstStyle>
            <a:lvl1pPr marL="0" indent="0" algn="l">
              <a:buNone/>
              <a:defRPr lang="en-US" sz="3000" b="1" dirty="0">
                <a:solidFill>
                  <a:schemeClr val="accent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4" name="Text 0"/>
          <p:cNvSpPr/>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chemeClr val="tx2"/>
                </a:solidFill>
              </a:rPr>
              <a:t>Sistema Unidad Territorial — Capstone · Avance Fase 2</a:t>
            </a:r>
            <a:endParaRPr lang="en-US" sz="9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_OSCURO">
    <p:bg>
      <p:bgPr>
        <a:solidFill>
          <a:schemeClr val="accent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rtlCol="0"/>
          <a:lstStyle>
            <a:lvl1pPr marL="0" indent="0" algn="l">
              <a:buNone/>
              <a:defRPr lang="en-US" sz="3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4" name="Text 0"/>
          <p:cNvSpPr/>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chemeClr val="accent5"/>
                </a:solidFill>
              </a:rPr>
              <a:t>Sistema Unidad Territorial — Capstone · Avance Fase 2</a:t>
            </a:r>
            <a:endParaRPr lang="en-US" sz="9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13.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1097280"/>
            <a:ext cx="731520" cy="731520"/>
          </a:xfrm>
          <a:prstGeom prst="ellipse">
            <a:avLst/>
          </a:prstGeom>
          <a:solidFill>
            <a:schemeClr val="accent1"/>
          </a:solidFill>
          <a:ln w="12700">
            <a:solidFill>
              <a:schemeClr val="accent1"/>
            </a:solidFill>
            <a:prstDash val="solid"/>
          </a:ln>
        </p:spPr>
        <p:txBody>
          <a:bodyPr/>
          <a:lstStyle/>
          <a:p>
            <a:endParaRPr lang="es-CL"/>
          </a:p>
        </p:txBody>
      </p:sp>
      <p:pic>
        <p:nvPicPr>
          <p:cNvPr id="3" name="Image 0" descr="preencoded.png"/>
          <p:cNvPicPr>
            <a:picLocks noChangeAspect="1"/>
          </p:cNvPicPr>
          <p:nvPr/>
        </p:nvPicPr>
        <p:blipFill>
          <a:blip r:embed="rId3"/>
          <a:stretch>
            <a:fillRect/>
          </a:stretch>
        </p:blipFill>
        <p:spPr>
          <a:xfrm>
            <a:off x="1005840" y="1280160"/>
            <a:ext cx="365760" cy="365760"/>
          </a:xfrm>
          <a:prstGeom prst="rect">
            <a:avLst/>
          </a:prstGeom>
        </p:spPr>
      </p:pic>
      <p:sp>
        <p:nvSpPr>
          <p:cNvPr id="4" name="Text 0"/>
          <p:cNvSpPr>
            <a:spLocks noGrp="1"/>
          </p:cNvSpPr>
          <p:nvPr>
            <p:ph type="body" idx="100" hasCustomPrompt="1"/>
          </p:nvPr>
        </p:nvSpPr>
        <p:spPr>
          <a:xfrm>
            <a:off x="822960" y="2103120"/>
            <a:ext cx="9144000" cy="365760"/>
          </a:xfrm>
          <a:prstGeom prst="rect">
            <a:avLst/>
          </a:prstGeom>
          <a:noFill/>
          <a:ln/>
        </p:spPr>
        <p:txBody>
          <a:bodyPr wrap="square" lIns="0" tIns="0" rIns="0" bIns="0" rtlCol="0"/>
          <a:lstStyle/>
          <a:p>
            <a:pPr marL="0" indent="0">
              <a:buNone/>
            </a:pPr>
            <a:r>
              <a:rPr lang="en-US" sz="1400" b="1" kern="0" spc="200" dirty="0">
                <a:solidFill>
                  <a:schemeClr val="accent1"/>
                </a:solidFill>
              </a:rPr>
              <a:t>PROYECTO APT — FASE 2 · AVANCE</a:t>
            </a:r>
            <a:endParaRPr lang="en-US" sz="1400" dirty="0"/>
          </a:p>
        </p:txBody>
      </p:sp>
      <p:sp>
        <p:nvSpPr>
          <p:cNvPr id="5" name="Text 0"/>
          <p:cNvSpPr>
            <a:spLocks noGrp="1"/>
          </p:cNvSpPr>
          <p:nvPr>
            <p:ph type="title" idx="101" hasCustomPrompt="1"/>
          </p:nvPr>
        </p:nvSpPr>
        <p:spPr>
          <a:xfrm>
            <a:off x="822960" y="2468880"/>
            <a:ext cx="10515600" cy="914400"/>
          </a:xfrm>
          <a:prstGeom prst="rect">
            <a:avLst/>
          </a:prstGeom>
          <a:noFill/>
          <a:ln/>
        </p:spPr>
        <p:txBody>
          <a:bodyPr wrap="square" lIns="0" tIns="0" rIns="0" bIns="0" rtlCol="0" anchor="ctr"/>
          <a:lstStyle/>
          <a:p>
            <a:pPr marL="0" indent="0" algn="l">
              <a:buNone/>
            </a:pPr>
            <a:r>
              <a:rPr lang="en-US" sz="4400" b="1" dirty="0">
                <a:solidFill>
                  <a:schemeClr val="bg1"/>
                </a:solidFill>
                <a:latin typeface="Cambria" pitchFamily="34" charset="0"/>
                <a:ea typeface="Cambria" pitchFamily="34" charset="-122"/>
                <a:cs typeface="Cambria" pitchFamily="34" charset="-120"/>
              </a:rPr>
              <a:t>Sistema Unidad Territorial</a:t>
            </a:r>
            <a:endParaRPr lang="en-US" sz="4400" dirty="0"/>
          </a:p>
        </p:txBody>
      </p:sp>
      <p:sp>
        <p:nvSpPr>
          <p:cNvPr id="6" name="Text 3"/>
          <p:cNvSpPr txBox="1"/>
          <p:nvPr/>
        </p:nvSpPr>
        <p:spPr>
          <a:xfrm>
            <a:off x="822960" y="3337560"/>
            <a:ext cx="10058400" cy="548640"/>
          </a:xfrm>
          <a:prstGeom prst="rect">
            <a:avLst/>
          </a:prstGeom>
          <a:noFill/>
          <a:ln/>
        </p:spPr>
        <p:txBody>
          <a:bodyPr wrap="square" lIns="0" tIns="0" rIns="0" bIns="0" rtlCol="0" anchor="ctr"/>
          <a:lstStyle/>
          <a:p>
            <a:pPr marL="0" indent="0">
              <a:buNone/>
            </a:pPr>
            <a:r>
              <a:rPr lang="en-US" sz="2200" dirty="0">
                <a:solidFill>
                  <a:schemeClr val="accent5"/>
                </a:solidFill>
              </a:rPr>
              <a:t>De la propuesta al sistema funcionando</a:t>
            </a:r>
            <a:endParaRPr lang="en-US" sz="2200" dirty="0"/>
          </a:p>
        </p:txBody>
      </p:sp>
      <p:sp>
        <p:nvSpPr>
          <p:cNvPr id="7" name="Text 4"/>
          <p:cNvSpPr txBox="1"/>
          <p:nvPr/>
        </p:nvSpPr>
        <p:spPr>
          <a:xfrm>
            <a:off x="822960" y="4434840"/>
            <a:ext cx="10058400" cy="1188720"/>
          </a:xfrm>
          <a:prstGeom prst="rect">
            <a:avLst/>
          </a:prstGeom>
          <a:noFill/>
          <a:ln/>
        </p:spPr>
        <p:txBody>
          <a:bodyPr wrap="square" lIns="0" tIns="0" rIns="0" bIns="0" rtlCol="0" anchor="ctr"/>
          <a:lstStyle/>
          <a:p>
            <a:pPr marL="0" indent="0">
              <a:spcAft>
                <a:spcPts val="600"/>
              </a:spcAft>
              <a:buNone/>
            </a:pPr>
            <a:r>
              <a:rPr lang="en-US" sz="1500" b="1" dirty="0">
                <a:solidFill>
                  <a:schemeClr val="bg1"/>
                </a:solidFill>
              </a:rPr>
              <a:t>Integrantes: </a:t>
            </a:r>
            <a:r>
              <a:rPr lang="en-US" sz="1500" dirty="0">
                <a:solidFill>
                  <a:schemeClr val="bg1"/>
                </a:solidFill>
              </a:rPr>
              <a:t>Matías Rain Cheuquecoy · Daniel Stiven Cruz</a:t>
            </a:r>
            <a:endParaRPr lang="en-US" sz="1500" dirty="0"/>
          </a:p>
          <a:p>
            <a:pPr marL="0" indent="0">
              <a:spcAft>
                <a:spcPts val="600"/>
              </a:spcAft>
              <a:buNone/>
            </a:pPr>
            <a:r>
              <a:rPr lang="en-US" sz="1500" b="1" dirty="0">
                <a:solidFill>
                  <a:schemeClr val="bg1"/>
                </a:solidFill>
              </a:rPr>
              <a:t>Curso: </a:t>
            </a:r>
            <a:r>
              <a:rPr lang="en-US" sz="1500" dirty="0">
                <a:solidFill>
                  <a:schemeClr val="bg1"/>
                </a:solidFill>
              </a:rPr>
              <a:t>Capstone (PTY4614)   ·   </a:t>
            </a:r>
            <a:r>
              <a:rPr lang="en-US" sz="1500" b="1" dirty="0">
                <a:solidFill>
                  <a:schemeClr val="bg1"/>
                </a:solidFill>
              </a:rPr>
              <a:t>Docente: </a:t>
            </a:r>
            <a:r>
              <a:rPr lang="en-US" sz="1500" dirty="0">
                <a:solidFill>
                  <a:schemeClr val="bg1"/>
                </a:solidFill>
              </a:rPr>
              <a:t>Carlos Andrés Herrera</a:t>
            </a:r>
            <a:endParaRPr lang="en-US" sz="1500" dirty="0"/>
          </a:p>
          <a:p>
            <a:pPr marL="0" indent="0">
              <a:spcAft>
                <a:spcPts val="600"/>
              </a:spcAft>
              <a:buNone/>
            </a:pPr>
            <a:r>
              <a:rPr lang="en-US" sz="1300" dirty="0">
                <a:solidFill>
                  <a:schemeClr val="accent5"/>
                </a:solidFill>
              </a:rPr>
              <a:t>DUOC UC — Sede Alameda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DE LA FASE 1 A HOY</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Pasamos de una propuesta a un sistema que funciona</a:t>
            </a:r>
            <a:endParaRPr lang="en-US" sz="3000" dirty="0"/>
          </a:p>
        </p:txBody>
      </p:sp>
      <p:sp>
        <p:nvSpPr>
          <p:cNvPr id="4" name="card-fase1"/>
          <p:cNvSpPr/>
          <p:nvPr/>
        </p:nvSpPr>
        <p:spPr>
          <a:xfrm>
            <a:off x="640080" y="1783080"/>
            <a:ext cx="5029200" cy="3063240"/>
          </a:xfrm>
          <a:prstGeom prst="roundRect">
            <a:avLst>
              <a:gd name="adj" fmla="val 2388"/>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5" name="Shape 3"/>
          <p:cNvSpPr/>
          <p:nvPr/>
        </p:nvSpPr>
        <p:spPr>
          <a:xfrm>
            <a:off x="914400" y="2057400"/>
            <a:ext cx="566928" cy="566928"/>
          </a:xfrm>
          <a:prstGeom prst="ellipse">
            <a:avLst/>
          </a:prstGeom>
          <a:solidFill>
            <a:schemeClr val="accent5"/>
          </a:solidFill>
          <a:ln w="12700">
            <a:solidFill>
              <a:schemeClr val="accent5"/>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1056132" y="2199132"/>
            <a:ext cx="283464" cy="283464"/>
          </a:xfrm>
          <a:prstGeom prst="rect">
            <a:avLst/>
          </a:prstGeom>
        </p:spPr>
      </p:pic>
      <p:sp>
        <p:nvSpPr>
          <p:cNvPr id="7" name="Text 4"/>
          <p:cNvSpPr txBox="1"/>
          <p:nvPr/>
        </p:nvSpPr>
        <p:spPr>
          <a:xfrm>
            <a:off x="1645920" y="2057400"/>
            <a:ext cx="3657600" cy="566928"/>
          </a:xfrm>
          <a:prstGeom prst="rect">
            <a:avLst/>
          </a:prstGeom>
          <a:noFill/>
          <a:ln/>
        </p:spPr>
        <p:txBody>
          <a:bodyPr wrap="square" lIns="0" tIns="0" rIns="0" bIns="0" rtlCol="0" anchor="ctr"/>
          <a:lstStyle/>
          <a:p>
            <a:pPr marL="0" indent="0">
              <a:buNone/>
            </a:pPr>
            <a:r>
              <a:rPr lang="en-US" sz="1800" b="1" dirty="0">
                <a:solidFill>
                  <a:schemeClr val="tx2"/>
                </a:solidFill>
              </a:rPr>
              <a:t>En la Fase 1</a:t>
            </a:r>
            <a:endParaRPr lang="en-US" sz="1800" dirty="0"/>
          </a:p>
        </p:txBody>
      </p:sp>
      <p:sp>
        <p:nvSpPr>
          <p:cNvPr id="8" name="Text 5"/>
          <p:cNvSpPr txBox="1"/>
          <p:nvPr/>
        </p:nvSpPr>
        <p:spPr>
          <a:xfrm>
            <a:off x="914400" y="2834640"/>
            <a:ext cx="4572000" cy="182880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chemeClr val="tx2"/>
                </a:solidFill>
              </a:rPr>
              <a:t>Propuesta y requerimientos definidos</a:t>
            </a:r>
            <a:endParaRPr lang="en-US" sz="1500" dirty="0"/>
          </a:p>
          <a:p>
            <a:pPr marL="342900" indent="-342900">
              <a:spcAft>
                <a:spcPts val="800"/>
              </a:spcAft>
              <a:buSzPct val="100000"/>
              <a:buChar char="•"/>
            </a:pPr>
            <a:r>
              <a:rPr lang="en-US" sz="1500" dirty="0">
                <a:solidFill>
                  <a:schemeClr val="tx2"/>
                </a:solidFill>
              </a:rPr>
              <a:t>Cinco módulos planificados en el papel</a:t>
            </a:r>
            <a:endParaRPr lang="en-US" sz="1500" dirty="0"/>
          </a:p>
          <a:p>
            <a:pPr marL="342900" indent="-342900">
              <a:spcAft>
                <a:spcPts val="800"/>
              </a:spcAft>
              <a:buSzPct val="100000"/>
              <a:buChar char="•"/>
            </a:pPr>
            <a:r>
              <a:rPr lang="en-US" sz="1500" dirty="0">
                <a:solidFill>
                  <a:schemeClr val="tx2"/>
                </a:solidFill>
              </a:rPr>
              <a:t>Stack elegido: PHP, MySQL y XAMPP</a:t>
            </a:r>
            <a:endParaRPr lang="en-US" sz="1500" dirty="0"/>
          </a:p>
          <a:p>
            <a:pPr marL="342900" indent="-342900">
              <a:spcAft>
                <a:spcPts val="800"/>
              </a:spcAft>
              <a:buSzPct val="100000"/>
              <a:buChar char="•"/>
            </a:pPr>
            <a:r>
              <a:rPr lang="en-US" sz="1500" dirty="0">
                <a:solidFill>
                  <a:schemeClr val="tx2"/>
                </a:solidFill>
              </a:rPr>
              <a:t>Tablero Kanban con casi todo en "Por hacer"</a:t>
            </a:r>
            <a:endParaRPr lang="en-US" sz="1500" dirty="0"/>
          </a:p>
        </p:txBody>
      </p:sp>
      <p:sp>
        <p:nvSpPr>
          <p:cNvPr id="9" name="Shape 6"/>
          <p:cNvSpPr/>
          <p:nvPr/>
        </p:nvSpPr>
        <p:spPr>
          <a:xfrm>
            <a:off x="5833872" y="3040380"/>
            <a:ext cx="521208" cy="548640"/>
          </a:xfrm>
          <a:prstGeom prst="rightArrow">
            <a:avLst/>
          </a:prstGeom>
          <a:solidFill>
            <a:schemeClr val="accent1"/>
          </a:solidFill>
          <a:ln w="12700">
            <a:solidFill>
              <a:schemeClr val="accent1"/>
            </a:solidFill>
            <a:prstDash val="solid"/>
          </a:ln>
        </p:spPr>
        <p:txBody>
          <a:bodyPr/>
          <a:lstStyle/>
          <a:p>
            <a:endParaRPr lang="es-CL"/>
          </a:p>
        </p:txBody>
      </p:sp>
      <p:sp>
        <p:nvSpPr>
          <p:cNvPr id="10" name="card-hoy"/>
          <p:cNvSpPr/>
          <p:nvPr/>
        </p:nvSpPr>
        <p:spPr>
          <a:xfrm>
            <a:off x="6519672" y="1783080"/>
            <a:ext cx="5029200" cy="3063240"/>
          </a:xfrm>
          <a:prstGeom prst="roundRect">
            <a:avLst>
              <a:gd name="adj" fmla="val 2388"/>
            </a:avLst>
          </a:prstGeom>
          <a:solidFill>
            <a:schemeClr val="accent2"/>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1" name="Shape 8"/>
          <p:cNvSpPr/>
          <p:nvPr/>
        </p:nvSpPr>
        <p:spPr>
          <a:xfrm>
            <a:off x="6793992" y="2057400"/>
            <a:ext cx="566928" cy="566928"/>
          </a:xfrm>
          <a:prstGeom prst="ellipse">
            <a:avLst/>
          </a:prstGeom>
          <a:solidFill>
            <a:schemeClr val="accent1"/>
          </a:solidFill>
          <a:ln w="12700">
            <a:solidFill>
              <a:schemeClr val="accent1"/>
            </a:solidFill>
            <a:prstDash val="solid"/>
          </a:ln>
        </p:spPr>
        <p:txBody>
          <a:bodyPr/>
          <a:lstStyle/>
          <a:p>
            <a:endParaRPr lang="es-CL"/>
          </a:p>
        </p:txBody>
      </p:sp>
      <p:pic>
        <p:nvPicPr>
          <p:cNvPr id="12" name="Image 1" descr="preencoded.png"/>
          <p:cNvPicPr>
            <a:picLocks noChangeAspect="1"/>
          </p:cNvPicPr>
          <p:nvPr/>
        </p:nvPicPr>
        <p:blipFill>
          <a:blip r:embed="rId4"/>
          <a:stretch>
            <a:fillRect/>
          </a:stretch>
        </p:blipFill>
        <p:spPr>
          <a:xfrm>
            <a:off x="6935724" y="2199132"/>
            <a:ext cx="283464" cy="283464"/>
          </a:xfrm>
          <a:prstGeom prst="rect">
            <a:avLst/>
          </a:prstGeom>
        </p:spPr>
      </p:pic>
      <p:sp>
        <p:nvSpPr>
          <p:cNvPr id="13" name="Text 9"/>
          <p:cNvSpPr txBox="1"/>
          <p:nvPr/>
        </p:nvSpPr>
        <p:spPr>
          <a:xfrm>
            <a:off x="7525512" y="2057400"/>
            <a:ext cx="3657600" cy="566928"/>
          </a:xfrm>
          <a:prstGeom prst="rect">
            <a:avLst/>
          </a:prstGeom>
          <a:noFill/>
          <a:ln/>
        </p:spPr>
        <p:txBody>
          <a:bodyPr wrap="square" lIns="0" tIns="0" rIns="0" bIns="0" rtlCol="0" anchor="ctr"/>
          <a:lstStyle/>
          <a:p>
            <a:pPr marL="0" indent="0">
              <a:buNone/>
            </a:pPr>
            <a:r>
              <a:rPr lang="en-US" sz="1800" b="1" dirty="0">
                <a:solidFill>
                  <a:schemeClr val="bg1"/>
                </a:solidFill>
              </a:rPr>
              <a:t>Hoy</a:t>
            </a:r>
            <a:endParaRPr lang="en-US" sz="1800" dirty="0"/>
          </a:p>
        </p:txBody>
      </p:sp>
      <p:sp>
        <p:nvSpPr>
          <p:cNvPr id="14" name="Text 10"/>
          <p:cNvSpPr txBox="1"/>
          <p:nvPr/>
        </p:nvSpPr>
        <p:spPr>
          <a:xfrm>
            <a:off x="6793992" y="2834640"/>
            <a:ext cx="4572000" cy="182880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chemeClr val="bg1"/>
                </a:solidFill>
              </a:rPr>
              <a:t>Sistema construido en PHP y MariaDB sobre XAMPP</a:t>
            </a:r>
            <a:endParaRPr lang="en-US" sz="1500" dirty="0"/>
          </a:p>
          <a:p>
            <a:pPr marL="342900" indent="-342900">
              <a:spcAft>
                <a:spcPts val="800"/>
              </a:spcAft>
              <a:buSzPct val="100000"/>
              <a:buChar char="•"/>
            </a:pPr>
            <a:r>
              <a:rPr lang="en-US" sz="1500" dirty="0">
                <a:solidFill>
                  <a:schemeClr val="bg1"/>
                </a:solidFill>
              </a:rPr>
              <a:t>Cinco módulos funcionando e integrados, más la directiva</a:t>
            </a:r>
            <a:endParaRPr lang="en-US" sz="1500" dirty="0"/>
          </a:p>
          <a:p>
            <a:pPr marL="342900" indent="-342900">
              <a:spcAft>
                <a:spcPts val="800"/>
              </a:spcAft>
              <a:buSzPct val="100000"/>
              <a:buChar char="•"/>
            </a:pPr>
            <a:r>
              <a:rPr lang="en-US" sz="1500" dirty="0">
                <a:solidFill>
                  <a:schemeClr val="bg1"/>
                </a:solidFill>
              </a:rPr>
              <a:t>Correos reales y certificados PDF verificables</a:t>
            </a:r>
            <a:endParaRPr lang="en-US" sz="1500" dirty="0"/>
          </a:p>
          <a:p>
            <a:pPr marL="342900" indent="-342900">
              <a:spcAft>
                <a:spcPts val="800"/>
              </a:spcAft>
              <a:buSzPct val="100000"/>
              <a:buChar char="•"/>
            </a:pPr>
            <a:r>
              <a:rPr lang="en-US" sz="1500" dirty="0">
                <a:solidFill>
                  <a:schemeClr val="bg1"/>
                </a:solidFill>
              </a:rPr>
              <a:t>Diez rondas de pruebas funcionales ejecutadas</a:t>
            </a:r>
            <a:endParaRPr lang="en-US" sz="1500" dirty="0"/>
          </a:p>
        </p:txBody>
      </p:sp>
      <p:sp>
        <p:nvSpPr>
          <p:cNvPr id="15" name="stat-0"/>
          <p:cNvSpPr/>
          <p:nvPr/>
        </p:nvSpPr>
        <p:spPr>
          <a:xfrm>
            <a:off x="640080" y="5074920"/>
            <a:ext cx="2560320" cy="1097280"/>
          </a:xfrm>
          <a:prstGeom prst="roundRect">
            <a:avLst>
              <a:gd name="adj" fmla="val 6667"/>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6" name="Text 12"/>
          <p:cNvSpPr txBox="1"/>
          <p:nvPr/>
        </p:nvSpPr>
        <p:spPr>
          <a:xfrm>
            <a:off x="868680" y="5120640"/>
            <a:ext cx="1005840" cy="10058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5/5</a:t>
            </a:r>
            <a:endParaRPr lang="en-US" sz="3200" dirty="0"/>
          </a:p>
        </p:txBody>
      </p:sp>
      <p:sp>
        <p:nvSpPr>
          <p:cNvPr id="17" name="Text 13"/>
          <p:cNvSpPr txBox="1"/>
          <p:nvPr/>
        </p:nvSpPr>
        <p:spPr>
          <a:xfrm>
            <a:off x="1874520" y="5120640"/>
            <a:ext cx="1188720" cy="1005840"/>
          </a:xfrm>
          <a:prstGeom prst="rect">
            <a:avLst/>
          </a:prstGeom>
          <a:noFill/>
          <a:ln/>
        </p:spPr>
        <p:txBody>
          <a:bodyPr wrap="square" lIns="0" tIns="0" rIns="0" bIns="0" rtlCol="0" anchor="ctr"/>
          <a:lstStyle/>
          <a:p>
            <a:pPr marL="0" indent="0">
              <a:buNone/>
            </a:pPr>
            <a:r>
              <a:rPr lang="en-US" sz="1300" dirty="0">
                <a:solidFill>
                  <a:schemeClr val="accent2"/>
                </a:solidFill>
              </a:rPr>
              <a:t>módulos funcionando</a:t>
            </a:r>
            <a:endParaRPr lang="en-US" sz="1300" dirty="0"/>
          </a:p>
        </p:txBody>
      </p:sp>
      <p:sp>
        <p:nvSpPr>
          <p:cNvPr id="18" name="stat-1"/>
          <p:cNvSpPr/>
          <p:nvPr/>
        </p:nvSpPr>
        <p:spPr>
          <a:xfrm>
            <a:off x="3413455" y="5074920"/>
            <a:ext cx="2560320" cy="1097280"/>
          </a:xfrm>
          <a:prstGeom prst="roundRect">
            <a:avLst>
              <a:gd name="adj" fmla="val 6667"/>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9" name="Text 15"/>
          <p:cNvSpPr txBox="1"/>
          <p:nvPr/>
        </p:nvSpPr>
        <p:spPr>
          <a:xfrm>
            <a:off x="3642055" y="5120640"/>
            <a:ext cx="1005840" cy="10058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9</a:t>
            </a:r>
            <a:endParaRPr lang="en-US" sz="3200" dirty="0"/>
          </a:p>
        </p:txBody>
      </p:sp>
      <p:sp>
        <p:nvSpPr>
          <p:cNvPr id="20" name="Text 16"/>
          <p:cNvSpPr txBox="1"/>
          <p:nvPr/>
        </p:nvSpPr>
        <p:spPr>
          <a:xfrm>
            <a:off x="4647895" y="5120640"/>
            <a:ext cx="1188720" cy="1005840"/>
          </a:xfrm>
          <a:prstGeom prst="rect">
            <a:avLst/>
          </a:prstGeom>
          <a:noFill/>
          <a:ln/>
        </p:spPr>
        <p:txBody>
          <a:bodyPr wrap="square" lIns="0" tIns="0" rIns="0" bIns="0" rtlCol="0" anchor="ctr"/>
          <a:lstStyle/>
          <a:p>
            <a:pPr marL="0" indent="0">
              <a:buNone/>
            </a:pPr>
            <a:r>
              <a:rPr lang="en-US" sz="1300" dirty="0">
                <a:solidFill>
                  <a:schemeClr val="accent2"/>
                </a:solidFill>
              </a:rPr>
              <a:t>tablas en la base de datos</a:t>
            </a:r>
            <a:endParaRPr lang="en-US" sz="1300" dirty="0"/>
          </a:p>
        </p:txBody>
      </p:sp>
      <p:sp>
        <p:nvSpPr>
          <p:cNvPr id="21" name="stat-2"/>
          <p:cNvSpPr/>
          <p:nvPr/>
        </p:nvSpPr>
        <p:spPr>
          <a:xfrm>
            <a:off x="6186830" y="5074920"/>
            <a:ext cx="2560320" cy="1097280"/>
          </a:xfrm>
          <a:prstGeom prst="roundRect">
            <a:avLst>
              <a:gd name="adj" fmla="val 6667"/>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2" name="Text 18"/>
          <p:cNvSpPr txBox="1"/>
          <p:nvPr/>
        </p:nvSpPr>
        <p:spPr>
          <a:xfrm>
            <a:off x="6415430" y="5120640"/>
            <a:ext cx="1005840" cy="10058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7</a:t>
            </a:r>
            <a:endParaRPr lang="en-US" sz="3200" dirty="0"/>
          </a:p>
        </p:txBody>
      </p:sp>
      <p:sp>
        <p:nvSpPr>
          <p:cNvPr id="23" name="Text 19"/>
          <p:cNvSpPr txBox="1"/>
          <p:nvPr/>
        </p:nvSpPr>
        <p:spPr>
          <a:xfrm>
            <a:off x="7421270" y="5120640"/>
            <a:ext cx="1188720" cy="1005840"/>
          </a:xfrm>
          <a:prstGeom prst="rect">
            <a:avLst/>
          </a:prstGeom>
          <a:noFill/>
          <a:ln/>
        </p:spPr>
        <p:txBody>
          <a:bodyPr wrap="square" lIns="0" tIns="0" rIns="0" bIns="0" rtlCol="0" anchor="ctr"/>
          <a:lstStyle/>
          <a:p>
            <a:pPr marL="0" indent="0">
              <a:buNone/>
            </a:pPr>
            <a:r>
              <a:rPr lang="en-US" sz="1300" dirty="0">
                <a:solidFill>
                  <a:schemeClr val="accent2"/>
                </a:solidFill>
              </a:rPr>
              <a:t>mejoras del docente incorporadas</a:t>
            </a:r>
            <a:endParaRPr lang="en-US" sz="1300" dirty="0"/>
          </a:p>
        </p:txBody>
      </p:sp>
      <p:sp>
        <p:nvSpPr>
          <p:cNvPr id="24" name="stat-3"/>
          <p:cNvSpPr/>
          <p:nvPr/>
        </p:nvSpPr>
        <p:spPr>
          <a:xfrm>
            <a:off x="8960206" y="5074920"/>
            <a:ext cx="2560320" cy="1097280"/>
          </a:xfrm>
          <a:prstGeom prst="roundRect">
            <a:avLst>
              <a:gd name="adj" fmla="val 6667"/>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5" name="Text 21"/>
          <p:cNvSpPr txBox="1"/>
          <p:nvPr/>
        </p:nvSpPr>
        <p:spPr>
          <a:xfrm>
            <a:off x="9188806" y="5120640"/>
            <a:ext cx="1005840" cy="10058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10</a:t>
            </a:r>
            <a:endParaRPr lang="en-US" sz="3200" dirty="0"/>
          </a:p>
        </p:txBody>
      </p:sp>
      <p:sp>
        <p:nvSpPr>
          <p:cNvPr id="26" name="Text 22"/>
          <p:cNvSpPr txBox="1"/>
          <p:nvPr/>
        </p:nvSpPr>
        <p:spPr>
          <a:xfrm>
            <a:off x="10194646" y="5120640"/>
            <a:ext cx="1188720" cy="1005840"/>
          </a:xfrm>
          <a:prstGeom prst="rect">
            <a:avLst/>
          </a:prstGeom>
          <a:noFill/>
          <a:ln/>
        </p:spPr>
        <p:txBody>
          <a:bodyPr wrap="square" lIns="0" tIns="0" rIns="0" bIns="0" rtlCol="0" anchor="ctr"/>
          <a:lstStyle/>
          <a:p>
            <a:pPr marL="0" indent="0">
              <a:buNone/>
            </a:pPr>
            <a:r>
              <a:rPr lang="en-US" sz="1300" dirty="0">
                <a:solidFill>
                  <a:schemeClr val="accent2"/>
                </a:solidFill>
              </a:rPr>
              <a:t>rondas de pruebas</a:t>
            </a:r>
            <a:endParaRPr lang="en-US" sz="1300" dirty="0"/>
          </a:p>
        </p:txBody>
      </p:sp>
      <p:sp>
        <p:nvSpPr>
          <p:cNvPr id="27"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ALCANCE FUNCIONAL</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Lo que prometimos en la Fase 1 y lo que hace hoy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4334256"/>
        </p:xfrm>
        <a:graphic>
          <a:graphicData uri="http://schemas.openxmlformats.org/drawingml/2006/table">
            <a:tbl>
              <a:tblPr/>
              <a:tblGrid>
                <a:gridCol w="21031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Módulo</a:t>
                      </a:r>
                      <a:endParaRPr lang="en-US" sz="13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2"/>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Prometido en la Fase 1</a:t>
                      </a:r>
                      <a:endParaRPr lang="en-US" sz="13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2"/>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Lo que hace hoy</a:t>
                      </a:r>
                      <a:endParaRPr lang="en-US" sz="13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2"/>
                    </a:solidFill>
                  </a:tcPr>
                </a:tc>
                <a:tc>
                  <a:txBody>
                    <a:bodyPr/>
                    <a:lstStyle/>
                    <a:p>
                      <a:pPr marL="0" indent="0" algn="ctr">
                        <a:buNone/>
                      </a:pPr>
                      <a:r>
                        <a:rPr lang="en-US" sz="1300" b="1" dirty="0">
                          <a:solidFill>
                            <a:schemeClr val="bg1"/>
                          </a:solidFill>
                          <a:latin typeface="Calibri" pitchFamily="34" charset="0"/>
                          <a:ea typeface="Calibri" pitchFamily="34" charset="-122"/>
                          <a:cs typeface="Calibri" pitchFamily="34" charset="-120"/>
                        </a:rPr>
                        <a:t>Estado</a:t>
                      </a:r>
                      <a:endParaRPr lang="en-US" sz="13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chemeClr val="accent2"/>
                          </a:solidFill>
                          <a:latin typeface="Calibri" pitchFamily="34" charset="0"/>
                          <a:ea typeface="Calibri" pitchFamily="34" charset="-122"/>
                          <a:cs typeface="Calibri" pitchFamily="34" charset="-120"/>
                        </a:rPr>
                        <a:t>Inscripción de vecinos</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latin typeface="Calibri" pitchFamily="34" charset="0"/>
                          <a:ea typeface="Calibri" pitchFamily="34" charset="-122"/>
                          <a:cs typeface="Calibri" pitchFamily="34" charset="-120"/>
                        </a:rPr>
                        <a:t>Registro y validación por el directorio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2"/>
                          </a:solidFill>
                          <a:latin typeface="Calibri" pitchFamily="34" charset="0"/>
                          <a:ea typeface="Calibri" pitchFamily="34" charset="-122"/>
                          <a:cs typeface="Calibri" pitchFamily="34" charset="-120"/>
                        </a:rPr>
                        <a:t>Valida RUT, dígito verificador y edad mínima de 14 años; el directorio aprueba, rechaza, da de baja o reactiva, con aviso por correo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Calibri" pitchFamily="34" charset="0"/>
                          <a:ea typeface="Calibri" pitchFamily="34" charset="-122"/>
                          <a:cs typeface="Calibri" pitchFamily="34" charset="-120"/>
                        </a:rPr>
                        <a:t>Completado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chemeClr val="accent2"/>
                          </a:solidFill>
                          <a:latin typeface="Calibri" pitchFamily="34" charset="0"/>
                          <a:ea typeface="Calibri" pitchFamily="34" charset="-122"/>
                          <a:cs typeface="Calibri" pitchFamily="34" charset="-120"/>
                        </a:rPr>
                        <a:t>Certificados</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latin typeface="Calibri" pitchFamily="34" charset="0"/>
                          <a:ea typeface="Calibri" pitchFamily="34" charset="-122"/>
                          <a:cs typeface="Calibri" pitchFamily="34" charset="-120"/>
                        </a:rPr>
                        <a:t>Residencia y vecino vigente, con aprobación y PDF</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latin typeface="Calibri" pitchFamily="34" charset="0"/>
                          <a:ea typeface="Calibri" pitchFamily="34" charset="-122"/>
                          <a:cs typeface="Calibri" pitchFamily="34" charset="-120"/>
                        </a:rPr>
                        <a:t>PDF con firma del presidente, sello digital, código de validación y página pública para verificarlo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accent3"/>
                          </a:solidFill>
                          <a:latin typeface="Calibri" pitchFamily="34" charset="0"/>
                          <a:ea typeface="Calibri" pitchFamily="34" charset="-122"/>
                          <a:cs typeface="Calibri" pitchFamily="34" charset="-120"/>
                        </a:rPr>
                        <a:t>Completado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chemeClr val="accent2"/>
                          </a:solidFill>
                          <a:latin typeface="Calibri" pitchFamily="34" charset="0"/>
                          <a:ea typeface="Calibri" pitchFamily="34" charset="-122"/>
                          <a:cs typeface="Calibri" pitchFamily="34" charset="-120"/>
                        </a:rPr>
                        <a:t>Proyectos vecinales</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latin typeface="Calibri" pitchFamily="34" charset="0"/>
                          <a:ea typeface="Calibri" pitchFamily="34" charset="-122"/>
                          <a:cs typeface="Calibri" pitchFamily="34" charset="-120"/>
                        </a:rPr>
                        <a:t>Postulación solo para socios</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2"/>
                          </a:solidFill>
                          <a:latin typeface="Calibri" pitchFamily="34" charset="0"/>
                          <a:ea typeface="Calibri" pitchFamily="34" charset="-122"/>
                          <a:cs typeface="Calibri" pitchFamily="34" charset="-120"/>
                        </a:rPr>
                        <a:t>Solo socios activos postulan; el directorio aprueba o rechaza y se cierra por fecha límite</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Calibri" pitchFamily="34" charset="0"/>
                          <a:ea typeface="Calibri" pitchFamily="34" charset="-122"/>
                          <a:cs typeface="Calibri" pitchFamily="34" charset="-120"/>
                        </a:rPr>
                        <a:t>Completado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chemeClr val="accent2"/>
                          </a:solidFill>
                          <a:latin typeface="Calibri" pitchFamily="34" charset="0"/>
                          <a:ea typeface="Calibri" pitchFamily="34" charset="-122"/>
                          <a:cs typeface="Calibri" pitchFamily="34" charset="-120"/>
                        </a:rPr>
                        <a:t>Noticias y avisos</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latin typeface="Calibri" pitchFamily="34" charset="0"/>
                          <a:ea typeface="Calibri" pitchFamily="34" charset="-122"/>
                          <a:cs typeface="Calibri" pitchFamily="34" charset="-120"/>
                        </a:rPr>
                        <a:t>A todos, a un grupo o a un vecino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latin typeface="Calibri" pitchFamily="34" charset="0"/>
                          <a:ea typeface="Calibri" pitchFamily="34" charset="-122"/>
                          <a:cs typeface="Calibri" pitchFamily="34" charset="-120"/>
                        </a:rPr>
                        <a:t>A todos, a los socios activos o a un vecino; bloquea mensajes a vecinos de otra junta</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accent3"/>
                          </a:solidFill>
                          <a:latin typeface="Calibri" pitchFamily="34" charset="0"/>
                          <a:ea typeface="Calibri" pitchFamily="34" charset="-122"/>
                          <a:cs typeface="Calibri" pitchFamily="34" charset="-120"/>
                        </a:rPr>
                        <a:t>Completado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58368">
                <a:tc>
                  <a:txBody>
                    <a:bodyPr/>
                    <a:lstStyle/>
                    <a:p>
                      <a:pPr marL="0" indent="0">
                        <a:buNone/>
                      </a:pPr>
                      <a:r>
                        <a:rPr lang="en-US" sz="1200" b="1" dirty="0">
                          <a:solidFill>
                            <a:schemeClr val="accent2"/>
                          </a:solidFill>
                          <a:latin typeface="Calibri" pitchFamily="34" charset="0"/>
                          <a:ea typeface="Calibri" pitchFamily="34" charset="-122"/>
                          <a:cs typeface="Calibri" pitchFamily="34" charset="-120"/>
                        </a:rPr>
                        <a:t>Calendario comunitario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latin typeface="Calibri" pitchFamily="34" charset="0"/>
                          <a:ea typeface="Calibri" pitchFamily="34" charset="-122"/>
                          <a:cs typeface="Calibri" pitchFamily="34" charset="-120"/>
                        </a:rPr>
                        <a:t>Espacios y actividades con cupo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2"/>
                          </a:solidFill>
                          <a:latin typeface="Calibri" pitchFamily="34" charset="0"/>
                          <a:ea typeface="Calibri" pitchFamily="34" charset="-122"/>
                          <a:cs typeface="Calibri" pitchFamily="34" charset="-120"/>
                        </a:rPr>
                        <a:t>Reservas de cancha, sala y plaza con aviso de choque; actividades con cupo máximo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Calibri" pitchFamily="34" charset="0"/>
                          <a:ea typeface="Calibri" pitchFamily="34" charset="-122"/>
                          <a:cs typeface="Calibri" pitchFamily="34" charset="-120"/>
                        </a:rPr>
                        <a:t>Completado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58368">
                <a:tc>
                  <a:txBody>
                    <a:bodyPr/>
                    <a:lstStyle/>
                    <a:p>
                      <a:pPr marL="0" indent="0">
                        <a:buNone/>
                      </a:pPr>
                      <a:r>
                        <a:rPr lang="en-US" sz="1200" b="1" dirty="0">
                          <a:solidFill>
                            <a:schemeClr val="accent2"/>
                          </a:solidFill>
                          <a:latin typeface="Calibri" pitchFamily="34" charset="0"/>
                          <a:ea typeface="Calibri" pitchFamily="34" charset="-122"/>
                          <a:cs typeface="Calibri" pitchFamily="34" charset="-120"/>
                        </a:rPr>
                        <a:t>Directiva de la junta</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latin typeface="Calibri" pitchFamily="34" charset="0"/>
                          <a:ea typeface="Calibri" pitchFamily="34" charset="-122"/>
                          <a:cs typeface="Calibri" pitchFamily="34" charset="-120"/>
                        </a:rPr>
                        <a:t>Gestión de cargos; cada junta debe tener presidente, secretario y tesorero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accent1"/>
                          </a:solidFill>
                          <a:latin typeface="Calibri" pitchFamily="34" charset="0"/>
                          <a:ea typeface="Calibri" pitchFamily="34" charset="-122"/>
                          <a:cs typeface="Calibri" pitchFamily="34" charset="-120"/>
                        </a:rPr>
                        <a:t>Nuevo</a:t>
                      </a:r>
                      <a:endParaRPr lang="en-US" sz="1200" dirty="0">
                        <a:latin typeface="Calibri" charset="0"/>
                        <a:ea typeface="Calibri" charset="0"/>
                        <a:cs typeface="Calibri" charset="0"/>
                      </a:endParaRPr>
                    </a:p>
                  </a:txBody>
                  <a:tcPr marL="109728" marR="109728"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CÓMO TRABAJAMOS</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Así se movió nuestro tablero Kanban</a:t>
            </a:r>
            <a:endParaRPr lang="en-US" sz="3000" dirty="0"/>
          </a:p>
        </p:txBody>
      </p:sp>
      <p:sp>
        <p:nvSpPr>
          <p:cNvPr id="4" name="Text 2"/>
          <p:cNvSpPr txBox="1"/>
          <p:nvPr/>
        </p:nvSpPr>
        <p:spPr>
          <a:xfrm>
            <a:off x="640080" y="1554480"/>
            <a:ext cx="10881360" cy="411480"/>
          </a:xfrm>
          <a:prstGeom prst="rect">
            <a:avLst/>
          </a:prstGeom>
          <a:noFill/>
          <a:ln/>
        </p:spPr>
        <p:txBody>
          <a:bodyPr wrap="square" lIns="0" tIns="0" rIns="0" bIns="0" rtlCol="0" anchor="ctr"/>
          <a:lstStyle/>
          <a:p>
            <a:pPr marL="0" indent="0">
              <a:buNone/>
            </a:pPr>
            <a:r>
              <a:rPr lang="en-US" sz="1400" dirty="0">
                <a:solidFill>
                  <a:schemeClr val="tx2"/>
                </a:solidFill>
              </a:rPr>
              <a:t>Seguimos con Kanban y el mismo reparto de módulos. Sumamos una etapa entre el desarrollo y las pruebas para incorporar las observaciones del docente.</a:t>
            </a:r>
            <a:endParaRPr lang="en-US" sz="1400" dirty="0"/>
          </a:p>
        </p:txBody>
      </p:sp>
      <p:sp>
        <p:nvSpPr>
          <p:cNvPr id="5" name="Shape 3"/>
          <p:cNvSpPr/>
          <p:nvPr/>
        </p:nvSpPr>
        <p:spPr>
          <a:xfrm>
            <a:off x="640080" y="2148840"/>
            <a:ext cx="2651760" cy="411480"/>
          </a:xfrm>
          <a:prstGeom prst="roundRect">
            <a:avLst>
              <a:gd name="adj" fmla="val 13333"/>
            </a:avLst>
          </a:prstGeom>
          <a:solidFill>
            <a:schemeClr val="tx2"/>
          </a:solidFill>
          <a:ln w="12700">
            <a:solidFill>
              <a:schemeClr val="tx2"/>
            </a:solidFill>
            <a:prstDash val="solid"/>
          </a:ln>
        </p:spPr>
        <p:txBody>
          <a:bodyPr/>
          <a:lstStyle/>
          <a:p>
            <a:endParaRPr lang="es-CL"/>
          </a:p>
        </p:txBody>
      </p:sp>
      <p:sp>
        <p:nvSpPr>
          <p:cNvPr id="6" name="Text 4"/>
          <p:cNvSpPr txBox="1"/>
          <p:nvPr/>
        </p:nvSpPr>
        <p:spPr>
          <a:xfrm>
            <a:off x="640080" y="2148840"/>
            <a:ext cx="2651760" cy="411480"/>
          </a:xfrm>
          <a:prstGeom prst="rect">
            <a:avLst/>
          </a:prstGeom>
          <a:noFill/>
          <a:ln/>
        </p:spPr>
        <p:txBody>
          <a:bodyPr wrap="square" lIns="0" tIns="0" rIns="0" bIns="0" rtlCol="0" anchor="ctr"/>
          <a:lstStyle/>
          <a:p>
            <a:pPr marL="0" indent="0" algn="ctr">
              <a:buNone/>
            </a:pPr>
            <a:r>
              <a:rPr lang="en-US" sz="1400" b="1" dirty="0">
                <a:solidFill>
                  <a:schemeClr val="bg1"/>
                </a:solidFill>
              </a:rPr>
              <a:t>Por hacer</a:t>
            </a:r>
            <a:endParaRPr lang="en-US" sz="1400" dirty="0"/>
          </a:p>
        </p:txBody>
      </p:sp>
      <p:sp>
        <p:nvSpPr>
          <p:cNvPr id="7" name="kanban-Por hacer0"/>
          <p:cNvSpPr/>
          <p:nvPr/>
        </p:nvSpPr>
        <p:spPr>
          <a:xfrm>
            <a:off x="640080" y="2715768"/>
            <a:ext cx="265176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8" name="Text 6"/>
          <p:cNvSpPr txBox="1"/>
          <p:nvPr/>
        </p:nvSpPr>
        <p:spPr>
          <a:xfrm>
            <a:off x="777240" y="2715768"/>
            <a:ext cx="2377440" cy="640080"/>
          </a:xfrm>
          <a:prstGeom prst="rect">
            <a:avLst/>
          </a:prstGeom>
          <a:noFill/>
          <a:ln/>
        </p:spPr>
        <p:txBody>
          <a:bodyPr wrap="square" lIns="0" tIns="0" rIns="0" bIns="0" rtlCol="0" anchor="ctr"/>
          <a:lstStyle/>
          <a:p>
            <a:pPr marL="0" indent="0">
              <a:buNone/>
            </a:pPr>
            <a:r>
              <a:rPr lang="en-US" sz="1300" dirty="0">
                <a:solidFill>
                  <a:schemeClr val="accent2"/>
                </a:solidFill>
              </a:rPr>
              <a:t>Documentación y cierre</a:t>
            </a:r>
            <a:endParaRPr lang="en-US" sz="1300" dirty="0"/>
          </a:p>
        </p:txBody>
      </p:sp>
      <p:sp>
        <p:nvSpPr>
          <p:cNvPr id="9" name="kanban-Por hacer1"/>
          <p:cNvSpPr/>
          <p:nvPr/>
        </p:nvSpPr>
        <p:spPr>
          <a:xfrm>
            <a:off x="640080" y="3483864"/>
            <a:ext cx="265176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0" name="Text 8"/>
          <p:cNvSpPr txBox="1"/>
          <p:nvPr/>
        </p:nvSpPr>
        <p:spPr>
          <a:xfrm>
            <a:off x="777240" y="3483864"/>
            <a:ext cx="2377440" cy="640080"/>
          </a:xfrm>
          <a:prstGeom prst="rect">
            <a:avLst/>
          </a:prstGeom>
          <a:noFill/>
          <a:ln/>
        </p:spPr>
        <p:txBody>
          <a:bodyPr wrap="square" lIns="0" tIns="0" rIns="0" bIns="0" rtlCol="0" anchor="ctr"/>
          <a:lstStyle/>
          <a:p>
            <a:pPr marL="0" indent="0">
              <a:buNone/>
            </a:pPr>
            <a:r>
              <a:rPr lang="en-US" sz="1300" dirty="0">
                <a:solidFill>
                  <a:schemeClr val="accent2"/>
                </a:solidFill>
              </a:rPr>
              <a:t>Retrospectiva del proyecto</a:t>
            </a:r>
            <a:endParaRPr lang="en-US" sz="1300" dirty="0"/>
          </a:p>
        </p:txBody>
      </p:sp>
      <p:sp>
        <p:nvSpPr>
          <p:cNvPr id="11" name="Shape 9"/>
          <p:cNvSpPr/>
          <p:nvPr/>
        </p:nvSpPr>
        <p:spPr>
          <a:xfrm>
            <a:off x="3474720" y="2148840"/>
            <a:ext cx="2651760" cy="411480"/>
          </a:xfrm>
          <a:prstGeom prst="roundRect">
            <a:avLst>
              <a:gd name="adj" fmla="val 13333"/>
            </a:avLst>
          </a:prstGeom>
          <a:solidFill>
            <a:schemeClr val="accent1"/>
          </a:solidFill>
          <a:ln w="12700">
            <a:solidFill>
              <a:schemeClr val="accent1"/>
            </a:solidFill>
            <a:prstDash val="solid"/>
          </a:ln>
        </p:spPr>
        <p:txBody>
          <a:bodyPr/>
          <a:lstStyle/>
          <a:p>
            <a:endParaRPr lang="es-CL"/>
          </a:p>
        </p:txBody>
      </p:sp>
      <p:sp>
        <p:nvSpPr>
          <p:cNvPr id="12" name="Text 10"/>
          <p:cNvSpPr txBox="1"/>
          <p:nvPr/>
        </p:nvSpPr>
        <p:spPr>
          <a:xfrm>
            <a:off x="3474720" y="2148840"/>
            <a:ext cx="2651760" cy="411480"/>
          </a:xfrm>
          <a:prstGeom prst="rect">
            <a:avLst/>
          </a:prstGeom>
          <a:noFill/>
          <a:ln/>
        </p:spPr>
        <p:txBody>
          <a:bodyPr wrap="square" lIns="0" tIns="0" rIns="0" bIns="0" rtlCol="0" anchor="ctr"/>
          <a:lstStyle/>
          <a:p>
            <a:pPr marL="0" indent="0" algn="ctr">
              <a:buNone/>
            </a:pPr>
            <a:r>
              <a:rPr lang="en-US" sz="1400" b="1" dirty="0">
                <a:solidFill>
                  <a:schemeClr val="bg1"/>
                </a:solidFill>
              </a:rPr>
              <a:t>Haciendo</a:t>
            </a:r>
            <a:endParaRPr lang="en-US" sz="1400" dirty="0"/>
          </a:p>
        </p:txBody>
      </p:sp>
      <p:sp>
        <p:nvSpPr>
          <p:cNvPr id="13" name="kanban-Haciendo0"/>
          <p:cNvSpPr/>
          <p:nvPr/>
        </p:nvSpPr>
        <p:spPr>
          <a:xfrm>
            <a:off x="3474720" y="2715768"/>
            <a:ext cx="265176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4" name="Text 12"/>
          <p:cNvSpPr txBox="1"/>
          <p:nvPr/>
        </p:nvSpPr>
        <p:spPr>
          <a:xfrm>
            <a:off x="3611880" y="2715768"/>
            <a:ext cx="2377440" cy="640080"/>
          </a:xfrm>
          <a:prstGeom prst="rect">
            <a:avLst/>
          </a:prstGeom>
          <a:noFill/>
          <a:ln/>
        </p:spPr>
        <p:txBody>
          <a:bodyPr wrap="square" lIns="0" tIns="0" rIns="0" bIns="0" rtlCol="0" anchor="ctr"/>
          <a:lstStyle/>
          <a:p>
            <a:pPr marL="0" indent="0">
              <a:buNone/>
            </a:pPr>
            <a:r>
              <a:rPr lang="en-US" sz="1300" dirty="0">
                <a:solidFill>
                  <a:schemeClr val="accent2"/>
                </a:solidFill>
              </a:rPr>
              <a:t>Documento de control y pruebas (10 rondas ya ejecutadas)</a:t>
            </a:r>
            <a:endParaRPr lang="en-US" sz="1300" dirty="0"/>
          </a:p>
        </p:txBody>
      </p:sp>
      <p:sp>
        <p:nvSpPr>
          <p:cNvPr id="15" name="Shape 13"/>
          <p:cNvSpPr/>
          <p:nvPr/>
        </p:nvSpPr>
        <p:spPr>
          <a:xfrm>
            <a:off x="6309360" y="2148840"/>
            <a:ext cx="5212080" cy="411480"/>
          </a:xfrm>
          <a:prstGeom prst="roundRect">
            <a:avLst>
              <a:gd name="adj" fmla="val 13333"/>
            </a:avLst>
          </a:prstGeom>
          <a:solidFill>
            <a:schemeClr val="accent3"/>
          </a:solidFill>
          <a:ln w="12700">
            <a:solidFill>
              <a:schemeClr val="accent3"/>
            </a:solidFill>
            <a:prstDash val="solid"/>
          </a:ln>
        </p:spPr>
        <p:txBody>
          <a:bodyPr/>
          <a:lstStyle/>
          <a:p>
            <a:endParaRPr lang="es-CL"/>
          </a:p>
        </p:txBody>
      </p:sp>
      <p:sp>
        <p:nvSpPr>
          <p:cNvPr id="16" name="Text 14"/>
          <p:cNvSpPr txBox="1"/>
          <p:nvPr/>
        </p:nvSpPr>
        <p:spPr>
          <a:xfrm>
            <a:off x="6309360" y="2148840"/>
            <a:ext cx="5212080" cy="411480"/>
          </a:xfrm>
          <a:prstGeom prst="rect">
            <a:avLst/>
          </a:prstGeom>
          <a:noFill/>
          <a:ln/>
        </p:spPr>
        <p:txBody>
          <a:bodyPr wrap="square" lIns="0" tIns="0" rIns="0" bIns="0" rtlCol="0" anchor="ctr"/>
          <a:lstStyle/>
          <a:p>
            <a:pPr marL="0" indent="0" algn="ctr">
              <a:buNone/>
            </a:pPr>
            <a:r>
              <a:rPr lang="en-US" sz="1400" b="1" dirty="0">
                <a:solidFill>
                  <a:schemeClr val="bg1"/>
                </a:solidFill>
              </a:rPr>
              <a:t>Listo</a:t>
            </a:r>
            <a:endParaRPr lang="en-US" sz="1400" dirty="0"/>
          </a:p>
        </p:txBody>
      </p:sp>
      <p:sp>
        <p:nvSpPr>
          <p:cNvPr id="17" name="kanban-Listo0"/>
          <p:cNvSpPr/>
          <p:nvPr/>
        </p:nvSpPr>
        <p:spPr>
          <a:xfrm>
            <a:off x="6309360" y="2715768"/>
            <a:ext cx="251460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8" name="Text 16"/>
          <p:cNvSpPr txBox="1"/>
          <p:nvPr/>
        </p:nvSpPr>
        <p:spPr>
          <a:xfrm>
            <a:off x="6446520" y="2715768"/>
            <a:ext cx="2240280" cy="640080"/>
          </a:xfrm>
          <a:prstGeom prst="rect">
            <a:avLst/>
          </a:prstGeom>
          <a:noFill/>
          <a:ln/>
        </p:spPr>
        <p:txBody>
          <a:bodyPr wrap="square" lIns="0" tIns="0" rIns="0" bIns="0" rtlCol="0" anchor="ctr"/>
          <a:lstStyle/>
          <a:p>
            <a:pPr marL="0" indent="0">
              <a:buNone/>
            </a:pPr>
            <a:r>
              <a:rPr lang="en-US" sz="1300" dirty="0">
                <a:solidFill>
                  <a:schemeClr val="accent2"/>
                </a:solidFill>
              </a:rPr>
              <a:t>Levantamiento de requerimientos</a:t>
            </a:r>
            <a:endParaRPr lang="en-US" sz="1300" dirty="0"/>
          </a:p>
        </p:txBody>
      </p:sp>
      <p:sp>
        <p:nvSpPr>
          <p:cNvPr id="19" name="kanban-Listo1"/>
          <p:cNvSpPr/>
          <p:nvPr/>
        </p:nvSpPr>
        <p:spPr>
          <a:xfrm>
            <a:off x="9006840" y="2715768"/>
            <a:ext cx="251460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0" name="Text 18"/>
          <p:cNvSpPr txBox="1"/>
          <p:nvPr/>
        </p:nvSpPr>
        <p:spPr>
          <a:xfrm>
            <a:off x="9144000" y="2715768"/>
            <a:ext cx="2240280" cy="640080"/>
          </a:xfrm>
          <a:prstGeom prst="rect">
            <a:avLst/>
          </a:prstGeom>
          <a:noFill/>
          <a:ln/>
        </p:spPr>
        <p:txBody>
          <a:bodyPr wrap="square" lIns="0" tIns="0" rIns="0" bIns="0" rtlCol="0" anchor="ctr"/>
          <a:lstStyle/>
          <a:p>
            <a:pPr marL="0" indent="0">
              <a:buNone/>
            </a:pPr>
            <a:r>
              <a:rPr lang="en-US" sz="1300" dirty="0">
                <a:solidFill>
                  <a:schemeClr val="accent2"/>
                </a:solidFill>
              </a:rPr>
              <a:t>Modelo de datos (9 tablas)</a:t>
            </a:r>
            <a:endParaRPr lang="en-US" sz="1300" dirty="0"/>
          </a:p>
        </p:txBody>
      </p:sp>
      <p:sp>
        <p:nvSpPr>
          <p:cNvPr id="21" name="kanban-Listo2"/>
          <p:cNvSpPr/>
          <p:nvPr/>
        </p:nvSpPr>
        <p:spPr>
          <a:xfrm>
            <a:off x="6309360" y="3483864"/>
            <a:ext cx="251460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2" name="Text 20"/>
          <p:cNvSpPr txBox="1"/>
          <p:nvPr/>
        </p:nvSpPr>
        <p:spPr>
          <a:xfrm>
            <a:off x="6446520" y="3483864"/>
            <a:ext cx="2240280" cy="640080"/>
          </a:xfrm>
          <a:prstGeom prst="rect">
            <a:avLst/>
          </a:prstGeom>
          <a:noFill/>
          <a:ln/>
        </p:spPr>
        <p:txBody>
          <a:bodyPr wrap="square" lIns="0" tIns="0" rIns="0" bIns="0" rtlCol="0" anchor="ctr"/>
          <a:lstStyle/>
          <a:p>
            <a:pPr marL="0" indent="0">
              <a:buNone/>
            </a:pPr>
            <a:r>
              <a:rPr lang="en-US" sz="1300" dirty="0">
                <a:solidFill>
                  <a:schemeClr val="accent2"/>
                </a:solidFill>
              </a:rPr>
              <a:t>Módulo inscripción de vecinos</a:t>
            </a:r>
            <a:endParaRPr lang="en-US" sz="1300" dirty="0"/>
          </a:p>
        </p:txBody>
      </p:sp>
      <p:sp>
        <p:nvSpPr>
          <p:cNvPr id="23" name="kanban-Listo3"/>
          <p:cNvSpPr/>
          <p:nvPr/>
        </p:nvSpPr>
        <p:spPr>
          <a:xfrm>
            <a:off x="9006840" y="3483864"/>
            <a:ext cx="251460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4" name="Text 22"/>
          <p:cNvSpPr txBox="1"/>
          <p:nvPr/>
        </p:nvSpPr>
        <p:spPr>
          <a:xfrm>
            <a:off x="9144000" y="3483864"/>
            <a:ext cx="2240280" cy="640080"/>
          </a:xfrm>
          <a:prstGeom prst="rect">
            <a:avLst/>
          </a:prstGeom>
          <a:noFill/>
          <a:ln/>
        </p:spPr>
        <p:txBody>
          <a:bodyPr wrap="square" lIns="0" tIns="0" rIns="0" bIns="0" rtlCol="0" anchor="ctr"/>
          <a:lstStyle/>
          <a:p>
            <a:pPr marL="0" indent="0">
              <a:buNone/>
            </a:pPr>
            <a:r>
              <a:rPr lang="en-US" sz="1300" dirty="0">
                <a:solidFill>
                  <a:schemeClr val="accent2"/>
                </a:solidFill>
              </a:rPr>
              <a:t>Módulo certificados</a:t>
            </a:r>
            <a:endParaRPr lang="en-US" sz="1300" dirty="0"/>
          </a:p>
        </p:txBody>
      </p:sp>
      <p:sp>
        <p:nvSpPr>
          <p:cNvPr id="25" name="kanban-Listo4"/>
          <p:cNvSpPr/>
          <p:nvPr/>
        </p:nvSpPr>
        <p:spPr>
          <a:xfrm>
            <a:off x="6309360" y="4251960"/>
            <a:ext cx="251460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6" name="Text 24"/>
          <p:cNvSpPr txBox="1"/>
          <p:nvPr/>
        </p:nvSpPr>
        <p:spPr>
          <a:xfrm>
            <a:off x="6446520" y="4251960"/>
            <a:ext cx="2240280" cy="640080"/>
          </a:xfrm>
          <a:prstGeom prst="rect">
            <a:avLst/>
          </a:prstGeom>
          <a:noFill/>
          <a:ln/>
        </p:spPr>
        <p:txBody>
          <a:bodyPr wrap="square" lIns="0" tIns="0" rIns="0" bIns="0" rtlCol="0" anchor="ctr"/>
          <a:lstStyle/>
          <a:p>
            <a:pPr marL="0" indent="0">
              <a:buNone/>
            </a:pPr>
            <a:r>
              <a:rPr lang="en-US" sz="1300" dirty="0">
                <a:solidFill>
                  <a:schemeClr val="accent2"/>
                </a:solidFill>
              </a:rPr>
              <a:t>Módulo proyectos vecinales</a:t>
            </a:r>
            <a:endParaRPr lang="en-US" sz="1300" dirty="0"/>
          </a:p>
        </p:txBody>
      </p:sp>
      <p:sp>
        <p:nvSpPr>
          <p:cNvPr id="27" name="kanban-Listo5"/>
          <p:cNvSpPr/>
          <p:nvPr/>
        </p:nvSpPr>
        <p:spPr>
          <a:xfrm>
            <a:off x="9006840" y="4251960"/>
            <a:ext cx="251460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8" name="Text 26"/>
          <p:cNvSpPr txBox="1"/>
          <p:nvPr/>
        </p:nvSpPr>
        <p:spPr>
          <a:xfrm>
            <a:off x="9144000" y="4251960"/>
            <a:ext cx="2240280" cy="640080"/>
          </a:xfrm>
          <a:prstGeom prst="rect">
            <a:avLst/>
          </a:prstGeom>
          <a:noFill/>
          <a:ln/>
        </p:spPr>
        <p:txBody>
          <a:bodyPr wrap="square" lIns="0" tIns="0" rIns="0" bIns="0" rtlCol="0" anchor="ctr"/>
          <a:lstStyle/>
          <a:p>
            <a:pPr marL="0" indent="0">
              <a:buNone/>
            </a:pPr>
            <a:r>
              <a:rPr lang="en-US" sz="1300" dirty="0">
                <a:solidFill>
                  <a:schemeClr val="accent2"/>
                </a:solidFill>
              </a:rPr>
              <a:t>Noticias, avisos y calendario</a:t>
            </a:r>
            <a:endParaRPr lang="en-US" sz="1300" dirty="0"/>
          </a:p>
        </p:txBody>
      </p:sp>
      <p:sp>
        <p:nvSpPr>
          <p:cNvPr id="29" name="kanban-Listo6"/>
          <p:cNvSpPr/>
          <p:nvPr/>
        </p:nvSpPr>
        <p:spPr>
          <a:xfrm>
            <a:off x="6309360" y="5020056"/>
            <a:ext cx="251460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30" name="Text 28"/>
          <p:cNvSpPr txBox="1"/>
          <p:nvPr/>
        </p:nvSpPr>
        <p:spPr>
          <a:xfrm>
            <a:off x="6446520" y="5020056"/>
            <a:ext cx="2240280" cy="640080"/>
          </a:xfrm>
          <a:prstGeom prst="rect">
            <a:avLst/>
          </a:prstGeom>
          <a:noFill/>
          <a:ln/>
        </p:spPr>
        <p:txBody>
          <a:bodyPr wrap="square" lIns="0" tIns="0" rIns="0" bIns="0" rtlCol="0" anchor="ctr"/>
          <a:lstStyle/>
          <a:p>
            <a:pPr marL="0" indent="0">
              <a:buNone/>
            </a:pPr>
            <a:r>
              <a:rPr lang="en-US" sz="1300" dirty="0">
                <a:solidFill>
                  <a:schemeClr val="accent2"/>
                </a:solidFill>
              </a:rPr>
              <a:t>Integración de módulos</a:t>
            </a:r>
            <a:endParaRPr lang="en-US" sz="1300" dirty="0"/>
          </a:p>
        </p:txBody>
      </p:sp>
      <p:sp>
        <p:nvSpPr>
          <p:cNvPr id="31" name="kanban-Listo7"/>
          <p:cNvSpPr/>
          <p:nvPr/>
        </p:nvSpPr>
        <p:spPr>
          <a:xfrm>
            <a:off x="9006840" y="5020056"/>
            <a:ext cx="2514600" cy="640080"/>
          </a:xfrm>
          <a:prstGeom prst="roundRect">
            <a:avLst>
              <a:gd name="adj" fmla="val 1142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32" name="Text 30"/>
          <p:cNvSpPr txBox="1"/>
          <p:nvPr/>
        </p:nvSpPr>
        <p:spPr>
          <a:xfrm>
            <a:off x="9144000" y="5020056"/>
            <a:ext cx="2240280" cy="640080"/>
          </a:xfrm>
          <a:prstGeom prst="rect">
            <a:avLst/>
          </a:prstGeom>
          <a:noFill/>
          <a:ln/>
        </p:spPr>
        <p:txBody>
          <a:bodyPr wrap="square" lIns="0" tIns="0" rIns="0" bIns="0" rtlCol="0" anchor="ctr"/>
          <a:lstStyle/>
          <a:p>
            <a:pPr marL="0" indent="0">
              <a:buNone/>
            </a:pPr>
            <a:r>
              <a:rPr lang="en-US" sz="1300" dirty="0">
                <a:solidFill>
                  <a:schemeClr val="accent2"/>
                </a:solidFill>
              </a:rPr>
              <a:t>Mejoras pedidas por el docente</a:t>
            </a:r>
            <a:endParaRPr lang="en-US" sz="1300" dirty="0"/>
          </a:p>
        </p:txBody>
      </p:sp>
      <p:sp>
        <p:nvSpPr>
          <p:cNvPr id="33" name="Text 31"/>
          <p:cNvSpPr txBox="1"/>
          <p:nvPr/>
        </p:nvSpPr>
        <p:spPr>
          <a:xfrm>
            <a:off x="640080" y="5806440"/>
            <a:ext cx="10881360" cy="502920"/>
          </a:xfrm>
          <a:prstGeom prst="rect">
            <a:avLst/>
          </a:prstGeom>
          <a:noFill/>
          <a:ln/>
        </p:spPr>
        <p:txBody>
          <a:bodyPr wrap="square" lIns="0" tIns="0" rIns="0" bIns="0" rtlCol="0" anchor="ctr"/>
          <a:lstStyle/>
          <a:p>
            <a:pPr marL="0" indent="0">
              <a:buNone/>
            </a:pPr>
            <a:r>
              <a:rPr lang="en-US" sz="1300" b="1" dirty="0">
                <a:solidFill>
                  <a:schemeClr val="accent2"/>
                </a:solidFill>
              </a:rPr>
              <a:t>Reparto: </a:t>
            </a:r>
            <a:r>
              <a:rPr lang="en-US" sz="1300" dirty="0">
                <a:solidFill>
                  <a:schemeClr val="accent2"/>
                </a:solidFill>
              </a:rPr>
              <a:t>Matías → modelo de datos, vecinos y certificados. Daniel → proyectos, noticias, avisos, calendario y pruebas. La integración y las mejoras las hicimos entre los dos.</a:t>
            </a:r>
            <a:endParaRPr lang="en-US" sz="1300" dirty="0"/>
          </a:p>
        </p:txBody>
      </p:sp>
      <p:sp>
        <p:nvSpPr>
          <p:cNvPr id="34"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FEEDBACK DEL DOCENTE</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Incorporamos las siete mejoras de la revisión de avance</a:t>
            </a:r>
            <a:endParaRPr lang="en-US" sz="3000" dirty="0"/>
          </a:p>
        </p:txBody>
      </p:sp>
      <p:sp>
        <p:nvSpPr>
          <p:cNvPr id="4" name="mejora-0"/>
          <p:cNvSpPr/>
          <p:nvPr/>
        </p:nvSpPr>
        <p:spPr>
          <a:xfrm>
            <a:off x="640080" y="1783080"/>
            <a:ext cx="256032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5" name="Shape 3"/>
          <p:cNvSpPr/>
          <p:nvPr/>
        </p:nvSpPr>
        <p:spPr>
          <a:xfrm>
            <a:off x="868680" y="201168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994410" y="2137410"/>
            <a:ext cx="251460" cy="251460"/>
          </a:xfrm>
          <a:prstGeom prst="rect">
            <a:avLst/>
          </a:prstGeom>
        </p:spPr>
      </p:pic>
      <p:sp>
        <p:nvSpPr>
          <p:cNvPr id="7" name="Text 4"/>
          <p:cNvSpPr txBox="1"/>
          <p:nvPr/>
        </p:nvSpPr>
        <p:spPr>
          <a:xfrm>
            <a:off x="868680" y="2606040"/>
            <a:ext cx="2103120" cy="411480"/>
          </a:xfrm>
          <a:prstGeom prst="rect">
            <a:avLst/>
          </a:prstGeom>
          <a:noFill/>
          <a:ln/>
        </p:spPr>
        <p:txBody>
          <a:bodyPr wrap="square" lIns="0" tIns="0" rIns="0" bIns="0" rtlCol="0" anchor="ctr"/>
          <a:lstStyle/>
          <a:p>
            <a:pPr marL="0" indent="0">
              <a:buNone/>
            </a:pPr>
            <a:r>
              <a:rPr lang="en-US" sz="1500" b="1" dirty="0">
                <a:solidFill>
                  <a:schemeClr val="accent2"/>
                </a:solidFill>
              </a:rPr>
              <a:t>AJAX en todo el sistema</a:t>
            </a:r>
            <a:endParaRPr lang="en-US" sz="1500" dirty="0"/>
          </a:p>
        </p:txBody>
      </p:sp>
      <p:sp>
        <p:nvSpPr>
          <p:cNvPr id="8" name="Text 5"/>
          <p:cNvSpPr txBox="1"/>
          <p:nvPr/>
        </p:nvSpPr>
        <p:spPr>
          <a:xfrm>
            <a:off x="868680" y="3017520"/>
            <a:ext cx="2103120" cy="685800"/>
          </a:xfrm>
          <a:prstGeom prst="rect">
            <a:avLst/>
          </a:prstGeom>
          <a:noFill/>
          <a:ln/>
        </p:spPr>
        <p:txBody>
          <a:bodyPr wrap="square" lIns="0" tIns="0" rIns="0" bIns="0" rtlCol="0" anchor="t"/>
          <a:lstStyle/>
          <a:p>
            <a:pPr marL="0" indent="0">
              <a:buNone/>
            </a:pPr>
            <a:r>
              <a:rPr lang="en-US" sz="1250" dirty="0">
                <a:solidFill>
                  <a:schemeClr val="tx2"/>
                </a:solidFill>
              </a:rPr>
              <a:t>Formularios y botones responden sin recargar la página.</a:t>
            </a:r>
            <a:endParaRPr lang="en-US" sz="1250" dirty="0"/>
          </a:p>
        </p:txBody>
      </p:sp>
      <p:sp>
        <p:nvSpPr>
          <p:cNvPr id="9" name="mejora-1"/>
          <p:cNvSpPr/>
          <p:nvPr/>
        </p:nvSpPr>
        <p:spPr>
          <a:xfrm>
            <a:off x="3413455" y="1783080"/>
            <a:ext cx="256032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0" name="Shape 7"/>
          <p:cNvSpPr/>
          <p:nvPr/>
        </p:nvSpPr>
        <p:spPr>
          <a:xfrm>
            <a:off x="3642055" y="201168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11" name="Image 1" descr="preencoded.png"/>
          <p:cNvPicPr>
            <a:picLocks noChangeAspect="1"/>
          </p:cNvPicPr>
          <p:nvPr/>
        </p:nvPicPr>
        <p:blipFill>
          <a:blip r:embed="rId4"/>
          <a:stretch>
            <a:fillRect/>
          </a:stretch>
        </p:blipFill>
        <p:spPr>
          <a:xfrm>
            <a:off x="3767785" y="2137410"/>
            <a:ext cx="251460" cy="251460"/>
          </a:xfrm>
          <a:prstGeom prst="rect">
            <a:avLst/>
          </a:prstGeom>
        </p:spPr>
      </p:pic>
      <p:sp>
        <p:nvSpPr>
          <p:cNvPr id="12" name="Text 8"/>
          <p:cNvSpPr txBox="1"/>
          <p:nvPr/>
        </p:nvSpPr>
        <p:spPr>
          <a:xfrm>
            <a:off x="3642055" y="2606040"/>
            <a:ext cx="2103120" cy="411480"/>
          </a:xfrm>
          <a:prstGeom prst="rect">
            <a:avLst/>
          </a:prstGeom>
          <a:noFill/>
          <a:ln/>
        </p:spPr>
        <p:txBody>
          <a:bodyPr wrap="square" lIns="0" tIns="0" rIns="0" bIns="0" rtlCol="0" anchor="ctr"/>
          <a:lstStyle/>
          <a:p>
            <a:pPr marL="0" indent="0">
              <a:buNone/>
            </a:pPr>
            <a:r>
              <a:rPr lang="en-US" sz="1500" b="1" dirty="0">
                <a:solidFill>
                  <a:schemeClr val="accent2"/>
                </a:solidFill>
              </a:rPr>
              <a:t>Rediseño visual</a:t>
            </a:r>
            <a:endParaRPr lang="en-US" sz="1500" dirty="0"/>
          </a:p>
        </p:txBody>
      </p:sp>
      <p:sp>
        <p:nvSpPr>
          <p:cNvPr id="13" name="Text 9"/>
          <p:cNvSpPr txBox="1"/>
          <p:nvPr/>
        </p:nvSpPr>
        <p:spPr>
          <a:xfrm>
            <a:off x="3642055" y="3017520"/>
            <a:ext cx="2103120" cy="685800"/>
          </a:xfrm>
          <a:prstGeom prst="rect">
            <a:avLst/>
          </a:prstGeom>
          <a:noFill/>
          <a:ln/>
        </p:spPr>
        <p:txBody>
          <a:bodyPr wrap="square" lIns="0" tIns="0" rIns="0" bIns="0" rtlCol="0" anchor="t"/>
          <a:lstStyle/>
          <a:p>
            <a:pPr marL="0" indent="0">
              <a:buNone/>
            </a:pPr>
            <a:r>
              <a:rPr lang="en-US" sz="1250" dirty="0">
                <a:solidFill>
                  <a:schemeClr val="tx2"/>
                </a:solidFill>
              </a:rPr>
              <a:t>Menú lateral, letra grande, botones amplios y contadores de pendientes.</a:t>
            </a:r>
            <a:endParaRPr lang="en-US" sz="1250" dirty="0"/>
          </a:p>
        </p:txBody>
      </p:sp>
      <p:sp>
        <p:nvSpPr>
          <p:cNvPr id="14" name="mejora-2"/>
          <p:cNvSpPr/>
          <p:nvPr/>
        </p:nvSpPr>
        <p:spPr>
          <a:xfrm>
            <a:off x="6186830" y="1783080"/>
            <a:ext cx="256032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5" name="Shape 11"/>
          <p:cNvSpPr/>
          <p:nvPr/>
        </p:nvSpPr>
        <p:spPr>
          <a:xfrm>
            <a:off x="6415430" y="201168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16" name="Image 2" descr="preencoded.png"/>
          <p:cNvPicPr>
            <a:picLocks noChangeAspect="1"/>
          </p:cNvPicPr>
          <p:nvPr/>
        </p:nvPicPr>
        <p:blipFill>
          <a:blip r:embed="rId5"/>
          <a:stretch>
            <a:fillRect/>
          </a:stretch>
        </p:blipFill>
        <p:spPr>
          <a:xfrm>
            <a:off x="6541160" y="2137410"/>
            <a:ext cx="251460" cy="251460"/>
          </a:xfrm>
          <a:prstGeom prst="rect">
            <a:avLst/>
          </a:prstGeom>
        </p:spPr>
      </p:pic>
      <p:sp>
        <p:nvSpPr>
          <p:cNvPr id="17" name="Text 12"/>
          <p:cNvSpPr txBox="1"/>
          <p:nvPr/>
        </p:nvSpPr>
        <p:spPr>
          <a:xfrm>
            <a:off x="6415430" y="2606040"/>
            <a:ext cx="2103120" cy="411480"/>
          </a:xfrm>
          <a:prstGeom prst="rect">
            <a:avLst/>
          </a:prstGeom>
          <a:noFill/>
          <a:ln/>
        </p:spPr>
        <p:txBody>
          <a:bodyPr wrap="square" lIns="0" tIns="0" rIns="0" bIns="0" rtlCol="0" anchor="ctr"/>
          <a:lstStyle/>
          <a:p>
            <a:pPr marL="0" indent="0">
              <a:buNone/>
            </a:pPr>
            <a:r>
              <a:rPr lang="en-US" sz="1500" b="1" dirty="0">
                <a:solidFill>
                  <a:schemeClr val="accent2"/>
                </a:solidFill>
              </a:rPr>
              <a:t>Avisos con estilo</a:t>
            </a:r>
            <a:endParaRPr lang="en-US" sz="1500" dirty="0"/>
          </a:p>
        </p:txBody>
      </p:sp>
      <p:sp>
        <p:nvSpPr>
          <p:cNvPr id="18" name="Text 13"/>
          <p:cNvSpPr txBox="1"/>
          <p:nvPr/>
        </p:nvSpPr>
        <p:spPr>
          <a:xfrm>
            <a:off x="6415430" y="3017520"/>
            <a:ext cx="2103120" cy="685800"/>
          </a:xfrm>
          <a:prstGeom prst="rect">
            <a:avLst/>
          </a:prstGeom>
          <a:noFill/>
          <a:ln/>
        </p:spPr>
        <p:txBody>
          <a:bodyPr wrap="square" lIns="0" tIns="0" rIns="0" bIns="0" rtlCol="0" anchor="t"/>
          <a:lstStyle/>
          <a:p>
            <a:pPr marL="0" indent="0">
              <a:buNone/>
            </a:pPr>
            <a:r>
              <a:rPr lang="en-US" sz="1250" dirty="0">
                <a:solidFill>
                  <a:schemeClr val="tx2"/>
                </a:solidFill>
              </a:rPr>
              <a:t>Los mensajes en blanco pasaron a avisos con el diseño del sitio.</a:t>
            </a:r>
            <a:endParaRPr lang="en-US" sz="1250" dirty="0"/>
          </a:p>
        </p:txBody>
      </p:sp>
      <p:sp>
        <p:nvSpPr>
          <p:cNvPr id="19" name="mejora-3"/>
          <p:cNvSpPr/>
          <p:nvPr/>
        </p:nvSpPr>
        <p:spPr>
          <a:xfrm>
            <a:off x="8960206" y="1783080"/>
            <a:ext cx="256032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0" name="Shape 15"/>
          <p:cNvSpPr/>
          <p:nvPr/>
        </p:nvSpPr>
        <p:spPr>
          <a:xfrm>
            <a:off x="9188806" y="201168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21" name="Image 3" descr="preencoded.png"/>
          <p:cNvPicPr>
            <a:picLocks noChangeAspect="1"/>
          </p:cNvPicPr>
          <p:nvPr/>
        </p:nvPicPr>
        <p:blipFill>
          <a:blip r:embed="rId6"/>
          <a:stretch>
            <a:fillRect/>
          </a:stretch>
        </p:blipFill>
        <p:spPr>
          <a:xfrm>
            <a:off x="9314536" y="2137410"/>
            <a:ext cx="251460" cy="251460"/>
          </a:xfrm>
          <a:prstGeom prst="rect">
            <a:avLst/>
          </a:prstGeom>
        </p:spPr>
      </p:pic>
      <p:sp>
        <p:nvSpPr>
          <p:cNvPr id="22" name="Text 16"/>
          <p:cNvSpPr txBox="1"/>
          <p:nvPr/>
        </p:nvSpPr>
        <p:spPr>
          <a:xfrm>
            <a:off x="9188806" y="2606040"/>
            <a:ext cx="2103120" cy="411480"/>
          </a:xfrm>
          <a:prstGeom prst="rect">
            <a:avLst/>
          </a:prstGeom>
          <a:noFill/>
          <a:ln/>
        </p:spPr>
        <p:txBody>
          <a:bodyPr wrap="square" lIns="0" tIns="0" rIns="0" bIns="0" rtlCol="0" anchor="ctr"/>
          <a:lstStyle/>
          <a:p>
            <a:pPr marL="0" indent="0">
              <a:buNone/>
            </a:pPr>
            <a:r>
              <a:rPr lang="en-US" sz="1500" b="1" dirty="0">
                <a:solidFill>
                  <a:schemeClr val="accent2"/>
                </a:solidFill>
              </a:rPr>
              <a:t>RUT sin puntos</a:t>
            </a:r>
            <a:endParaRPr lang="en-US" sz="1500" dirty="0"/>
          </a:p>
        </p:txBody>
      </p:sp>
      <p:sp>
        <p:nvSpPr>
          <p:cNvPr id="23" name="Text 17"/>
          <p:cNvSpPr txBox="1"/>
          <p:nvPr/>
        </p:nvSpPr>
        <p:spPr>
          <a:xfrm>
            <a:off x="9188806" y="3017520"/>
            <a:ext cx="2103120" cy="685800"/>
          </a:xfrm>
          <a:prstGeom prst="rect">
            <a:avLst/>
          </a:prstGeom>
          <a:noFill/>
          <a:ln/>
        </p:spPr>
        <p:txBody>
          <a:bodyPr wrap="square" lIns="0" tIns="0" rIns="0" bIns="0" rtlCol="0" anchor="t"/>
          <a:lstStyle/>
          <a:p>
            <a:pPr marL="0" indent="0">
              <a:buNone/>
            </a:pPr>
            <a:r>
              <a:rPr lang="en-US" sz="1250" dirty="0">
                <a:solidFill>
                  <a:schemeClr val="tx2"/>
                </a:solidFill>
              </a:rPr>
              <a:t>El dígito verificador se guarda en una columna aparte (dv).</a:t>
            </a:r>
            <a:endParaRPr lang="en-US" sz="1250" dirty="0"/>
          </a:p>
        </p:txBody>
      </p:sp>
      <p:sp>
        <p:nvSpPr>
          <p:cNvPr id="24" name="mejora-4"/>
          <p:cNvSpPr/>
          <p:nvPr/>
        </p:nvSpPr>
        <p:spPr>
          <a:xfrm>
            <a:off x="640080" y="4069080"/>
            <a:ext cx="256032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5" name="Shape 19"/>
          <p:cNvSpPr/>
          <p:nvPr/>
        </p:nvSpPr>
        <p:spPr>
          <a:xfrm>
            <a:off x="868680" y="429768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26" name="Image 4" descr="preencoded.png"/>
          <p:cNvPicPr>
            <a:picLocks noChangeAspect="1"/>
          </p:cNvPicPr>
          <p:nvPr/>
        </p:nvPicPr>
        <p:blipFill>
          <a:blip r:embed="rId7"/>
          <a:stretch>
            <a:fillRect/>
          </a:stretch>
        </p:blipFill>
        <p:spPr>
          <a:xfrm>
            <a:off x="994410" y="4423410"/>
            <a:ext cx="251460" cy="251460"/>
          </a:xfrm>
          <a:prstGeom prst="rect">
            <a:avLst/>
          </a:prstGeom>
        </p:spPr>
      </p:pic>
      <p:sp>
        <p:nvSpPr>
          <p:cNvPr id="27" name="Text 20"/>
          <p:cNvSpPr txBox="1"/>
          <p:nvPr/>
        </p:nvSpPr>
        <p:spPr>
          <a:xfrm>
            <a:off x="868680" y="4892040"/>
            <a:ext cx="2103120" cy="411480"/>
          </a:xfrm>
          <a:prstGeom prst="rect">
            <a:avLst/>
          </a:prstGeom>
          <a:noFill/>
          <a:ln/>
        </p:spPr>
        <p:txBody>
          <a:bodyPr wrap="square" lIns="0" tIns="0" rIns="0" bIns="0" rtlCol="0" anchor="ctr"/>
          <a:lstStyle/>
          <a:p>
            <a:pPr marL="0" indent="0">
              <a:buNone/>
            </a:pPr>
            <a:r>
              <a:rPr lang="en-US" sz="1500" b="1" dirty="0">
                <a:solidFill>
                  <a:schemeClr val="accent2"/>
                </a:solidFill>
              </a:rPr>
              <a:t>Enlace de verificación</a:t>
            </a:r>
            <a:endParaRPr lang="en-US" sz="1500" dirty="0"/>
          </a:p>
        </p:txBody>
      </p:sp>
      <p:sp>
        <p:nvSpPr>
          <p:cNvPr id="28" name="Text 21"/>
          <p:cNvSpPr txBox="1"/>
          <p:nvPr/>
        </p:nvSpPr>
        <p:spPr>
          <a:xfrm>
            <a:off x="868680" y="5303520"/>
            <a:ext cx="2103120" cy="685800"/>
          </a:xfrm>
          <a:prstGeom prst="rect">
            <a:avLst/>
          </a:prstGeom>
          <a:noFill/>
          <a:ln/>
        </p:spPr>
        <p:txBody>
          <a:bodyPr wrap="square" lIns="0" tIns="0" rIns="0" bIns="0" rtlCol="0" anchor="t"/>
          <a:lstStyle/>
          <a:p>
            <a:pPr marL="0" indent="0">
              <a:buNone/>
            </a:pPr>
            <a:r>
              <a:rPr lang="en-US" sz="1250" dirty="0">
                <a:solidFill>
                  <a:schemeClr val="tx2"/>
                </a:solidFill>
              </a:rPr>
              <a:t>El certificado trae un enlace público para comprobar que es auténtico.</a:t>
            </a:r>
            <a:endParaRPr lang="en-US" sz="1250" dirty="0"/>
          </a:p>
        </p:txBody>
      </p:sp>
      <p:sp>
        <p:nvSpPr>
          <p:cNvPr id="29" name="mejora-5"/>
          <p:cNvSpPr/>
          <p:nvPr/>
        </p:nvSpPr>
        <p:spPr>
          <a:xfrm>
            <a:off x="3413455" y="4069080"/>
            <a:ext cx="256032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30" name="Shape 23"/>
          <p:cNvSpPr/>
          <p:nvPr/>
        </p:nvSpPr>
        <p:spPr>
          <a:xfrm>
            <a:off x="3642055" y="429768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31" name="Image 5" descr="preencoded.png"/>
          <p:cNvPicPr>
            <a:picLocks noChangeAspect="1"/>
          </p:cNvPicPr>
          <p:nvPr/>
        </p:nvPicPr>
        <p:blipFill>
          <a:blip r:embed="rId8"/>
          <a:stretch>
            <a:fillRect/>
          </a:stretch>
        </p:blipFill>
        <p:spPr>
          <a:xfrm>
            <a:off x="3767785" y="4423410"/>
            <a:ext cx="251460" cy="251460"/>
          </a:xfrm>
          <a:prstGeom prst="rect">
            <a:avLst/>
          </a:prstGeom>
        </p:spPr>
      </p:pic>
      <p:sp>
        <p:nvSpPr>
          <p:cNvPr id="32" name="Text 24"/>
          <p:cNvSpPr txBox="1"/>
          <p:nvPr/>
        </p:nvSpPr>
        <p:spPr>
          <a:xfrm>
            <a:off x="3642055" y="4892040"/>
            <a:ext cx="2103120" cy="411480"/>
          </a:xfrm>
          <a:prstGeom prst="rect">
            <a:avLst/>
          </a:prstGeom>
          <a:noFill/>
          <a:ln/>
        </p:spPr>
        <p:txBody>
          <a:bodyPr wrap="square" lIns="0" tIns="0" rIns="0" bIns="0" rtlCol="0" anchor="ctr"/>
          <a:lstStyle/>
          <a:p>
            <a:pPr marL="0" indent="0">
              <a:buNone/>
            </a:pPr>
            <a:r>
              <a:rPr lang="en-US" sz="1500" b="1" dirty="0">
                <a:solidFill>
                  <a:schemeClr val="accent2"/>
                </a:solidFill>
              </a:rPr>
              <a:t>Mensajes solo a tu junta</a:t>
            </a:r>
            <a:endParaRPr lang="en-US" sz="1500" dirty="0"/>
          </a:p>
        </p:txBody>
      </p:sp>
      <p:sp>
        <p:nvSpPr>
          <p:cNvPr id="33" name="Text 25"/>
          <p:cNvSpPr txBox="1"/>
          <p:nvPr/>
        </p:nvSpPr>
        <p:spPr>
          <a:xfrm>
            <a:off x="3642055" y="5303520"/>
            <a:ext cx="2103120" cy="685800"/>
          </a:xfrm>
          <a:prstGeom prst="rect">
            <a:avLst/>
          </a:prstGeom>
          <a:noFill/>
          <a:ln/>
        </p:spPr>
        <p:txBody>
          <a:bodyPr wrap="square" lIns="0" tIns="0" rIns="0" bIns="0" rtlCol="0" anchor="t"/>
          <a:lstStyle/>
          <a:p>
            <a:pPr marL="0" indent="0">
              <a:buNone/>
            </a:pPr>
            <a:r>
              <a:rPr lang="en-US" sz="1250" dirty="0">
                <a:solidFill>
                  <a:schemeClr val="tx2"/>
                </a:solidFill>
              </a:rPr>
              <a:t>No se puede enviar un aviso a un vecino de otra junta.</a:t>
            </a:r>
            <a:endParaRPr lang="en-US" sz="1250" dirty="0"/>
          </a:p>
        </p:txBody>
      </p:sp>
      <p:sp>
        <p:nvSpPr>
          <p:cNvPr id="34" name="mejora-6"/>
          <p:cNvSpPr/>
          <p:nvPr/>
        </p:nvSpPr>
        <p:spPr>
          <a:xfrm>
            <a:off x="6186830" y="4069080"/>
            <a:ext cx="256032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35" name="Shape 27"/>
          <p:cNvSpPr/>
          <p:nvPr/>
        </p:nvSpPr>
        <p:spPr>
          <a:xfrm>
            <a:off x="6415430" y="429768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36" name="Image 6" descr="preencoded.png"/>
          <p:cNvPicPr>
            <a:picLocks noChangeAspect="1"/>
          </p:cNvPicPr>
          <p:nvPr/>
        </p:nvPicPr>
        <p:blipFill>
          <a:blip r:embed="rId9"/>
          <a:stretch>
            <a:fillRect/>
          </a:stretch>
        </p:blipFill>
        <p:spPr>
          <a:xfrm>
            <a:off x="6541160" y="4423410"/>
            <a:ext cx="251460" cy="251460"/>
          </a:xfrm>
          <a:prstGeom prst="rect">
            <a:avLst/>
          </a:prstGeom>
        </p:spPr>
      </p:pic>
      <p:sp>
        <p:nvSpPr>
          <p:cNvPr id="37" name="Text 28"/>
          <p:cNvSpPr txBox="1"/>
          <p:nvPr/>
        </p:nvSpPr>
        <p:spPr>
          <a:xfrm>
            <a:off x="6415430" y="4892040"/>
            <a:ext cx="2103120" cy="411480"/>
          </a:xfrm>
          <a:prstGeom prst="rect">
            <a:avLst/>
          </a:prstGeom>
          <a:noFill/>
          <a:ln/>
        </p:spPr>
        <p:txBody>
          <a:bodyPr wrap="square" lIns="0" tIns="0" rIns="0" bIns="0" rtlCol="0" anchor="ctr"/>
          <a:lstStyle/>
          <a:p>
            <a:pPr marL="0" indent="0">
              <a:buNone/>
            </a:pPr>
            <a:r>
              <a:rPr lang="en-US" sz="1500" b="1" dirty="0">
                <a:solidFill>
                  <a:schemeClr val="accent2"/>
                </a:solidFill>
              </a:rPr>
              <a:t>Directiva completa</a:t>
            </a:r>
            <a:endParaRPr lang="en-US" sz="1500" dirty="0"/>
          </a:p>
        </p:txBody>
      </p:sp>
      <p:sp>
        <p:nvSpPr>
          <p:cNvPr id="38" name="Text 29"/>
          <p:cNvSpPr txBox="1"/>
          <p:nvPr/>
        </p:nvSpPr>
        <p:spPr>
          <a:xfrm>
            <a:off x="6415430" y="5303520"/>
            <a:ext cx="2103120" cy="685800"/>
          </a:xfrm>
          <a:prstGeom prst="rect">
            <a:avLst/>
          </a:prstGeom>
          <a:noFill/>
          <a:ln/>
        </p:spPr>
        <p:txBody>
          <a:bodyPr wrap="square" lIns="0" tIns="0" rIns="0" bIns="0" rtlCol="0" anchor="t"/>
          <a:lstStyle/>
          <a:p>
            <a:pPr marL="0" indent="0">
              <a:buNone/>
            </a:pPr>
            <a:r>
              <a:rPr lang="en-US" sz="1250" dirty="0">
                <a:solidFill>
                  <a:schemeClr val="tx2"/>
                </a:solidFill>
              </a:rPr>
              <a:t>Cada junta debe tener presidente, secretario y tesorero.</a:t>
            </a:r>
            <a:endParaRPr lang="en-US" sz="1250" dirty="0"/>
          </a:p>
        </p:txBody>
      </p:sp>
      <p:sp>
        <p:nvSpPr>
          <p:cNvPr id="39" name="mejora-total"/>
          <p:cNvSpPr/>
          <p:nvPr/>
        </p:nvSpPr>
        <p:spPr>
          <a:xfrm>
            <a:off x="8960206" y="4069080"/>
            <a:ext cx="2560320" cy="2011680"/>
          </a:xfrm>
          <a:prstGeom prst="roundRect">
            <a:avLst>
              <a:gd name="adj" fmla="val 3636"/>
            </a:avLst>
          </a:prstGeom>
          <a:solidFill>
            <a:schemeClr val="accent2"/>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40" name="Text 31"/>
          <p:cNvSpPr txBox="1"/>
          <p:nvPr/>
        </p:nvSpPr>
        <p:spPr>
          <a:xfrm>
            <a:off x="8960206" y="4389120"/>
            <a:ext cx="2560320" cy="914400"/>
          </a:xfrm>
          <a:prstGeom prst="rect">
            <a:avLst/>
          </a:prstGeom>
          <a:noFill/>
          <a:ln/>
        </p:spPr>
        <p:txBody>
          <a:bodyPr wrap="square" lIns="0" tIns="0" rIns="0" bIns="0" rtlCol="0" anchor="ctr"/>
          <a:lstStyle/>
          <a:p>
            <a:pPr marL="0" indent="0" algn="ctr">
              <a:buNone/>
            </a:pPr>
            <a:r>
              <a:rPr lang="en-US" sz="4800" b="1" dirty="0">
                <a:solidFill>
                  <a:schemeClr val="accent1"/>
                </a:solidFill>
                <a:latin typeface="Cambria" pitchFamily="34" charset="0"/>
                <a:ea typeface="Cambria" pitchFamily="34" charset="-122"/>
                <a:cs typeface="Cambria" pitchFamily="34" charset="-120"/>
              </a:rPr>
              <a:t>7/7</a:t>
            </a:r>
            <a:endParaRPr lang="en-US" sz="4800" dirty="0"/>
          </a:p>
        </p:txBody>
      </p:sp>
      <p:sp>
        <p:nvSpPr>
          <p:cNvPr id="41" name="Text 32"/>
          <p:cNvSpPr txBox="1"/>
          <p:nvPr/>
        </p:nvSpPr>
        <p:spPr>
          <a:xfrm>
            <a:off x="9188806" y="5303520"/>
            <a:ext cx="2103120" cy="548640"/>
          </a:xfrm>
          <a:prstGeom prst="rect">
            <a:avLst/>
          </a:prstGeom>
          <a:noFill/>
          <a:ln/>
        </p:spPr>
        <p:txBody>
          <a:bodyPr wrap="square" lIns="0" tIns="0" rIns="0" bIns="0" rtlCol="0" anchor="ctr"/>
          <a:lstStyle/>
          <a:p>
            <a:pPr marL="0" indent="0" algn="ctr">
              <a:buNone/>
            </a:pPr>
            <a:r>
              <a:rPr lang="en-US" sz="1300" dirty="0">
                <a:solidFill>
                  <a:schemeClr val="bg1"/>
                </a:solidFill>
              </a:rPr>
              <a:t>mejoras incorporadas antes de las pruebas</a:t>
            </a:r>
            <a:endParaRPr lang="en-US" sz="1300" dirty="0"/>
          </a:p>
        </p:txBody>
      </p:sp>
      <p:sp>
        <p:nvSpPr>
          <p:cNvPr id="42"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ARQUITECTURA Y STACK</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Cómo quedó construido el sistema</a:t>
            </a:r>
            <a:endParaRPr lang="en-US" sz="3000" dirty="0"/>
          </a:p>
        </p:txBody>
      </p:sp>
      <p:sp>
        <p:nvSpPr>
          <p:cNvPr id="4" name="nodo-Navegador"/>
          <p:cNvSpPr/>
          <p:nvPr/>
        </p:nvSpPr>
        <p:spPr>
          <a:xfrm>
            <a:off x="640080" y="1783080"/>
            <a:ext cx="2926080" cy="1600200"/>
          </a:xfrm>
          <a:prstGeom prst="roundRect">
            <a:avLst>
              <a:gd name="adj" fmla="val 4571"/>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5" name="Shape 3"/>
          <p:cNvSpPr/>
          <p:nvPr/>
        </p:nvSpPr>
        <p:spPr>
          <a:xfrm>
            <a:off x="868680" y="2011680"/>
            <a:ext cx="502920" cy="502920"/>
          </a:xfrm>
          <a:prstGeom prst="ellipse">
            <a:avLst/>
          </a:prstGeom>
          <a:solidFill>
            <a:schemeClr val="accent2"/>
          </a:solidFill>
          <a:ln w="12700">
            <a:solidFill>
              <a:schemeClr val="accent2"/>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994410" y="2137410"/>
            <a:ext cx="251460" cy="251460"/>
          </a:xfrm>
          <a:prstGeom prst="rect">
            <a:avLst/>
          </a:prstGeom>
        </p:spPr>
      </p:pic>
      <p:sp>
        <p:nvSpPr>
          <p:cNvPr id="7" name="Text 4"/>
          <p:cNvSpPr txBox="1"/>
          <p:nvPr/>
        </p:nvSpPr>
        <p:spPr>
          <a:xfrm>
            <a:off x="1508760" y="2011680"/>
            <a:ext cx="1920240" cy="502920"/>
          </a:xfrm>
          <a:prstGeom prst="rect">
            <a:avLst/>
          </a:prstGeom>
          <a:noFill/>
          <a:ln/>
        </p:spPr>
        <p:txBody>
          <a:bodyPr wrap="square" lIns="0" tIns="0" rIns="0" bIns="0" rtlCol="0" anchor="ctr"/>
          <a:lstStyle/>
          <a:p>
            <a:pPr marL="0" indent="0">
              <a:buNone/>
            </a:pPr>
            <a:r>
              <a:rPr lang="en-US" sz="1500" b="1" dirty="0">
                <a:solidFill>
                  <a:schemeClr val="accent2"/>
                </a:solidFill>
              </a:rPr>
              <a:t>Navegador</a:t>
            </a:r>
            <a:endParaRPr lang="en-US" sz="1500" dirty="0"/>
          </a:p>
        </p:txBody>
      </p:sp>
      <p:sp>
        <p:nvSpPr>
          <p:cNvPr id="8" name="Text 5"/>
          <p:cNvSpPr txBox="1"/>
          <p:nvPr/>
        </p:nvSpPr>
        <p:spPr>
          <a:xfrm>
            <a:off x="868680" y="2651760"/>
            <a:ext cx="2468880" cy="640080"/>
          </a:xfrm>
          <a:prstGeom prst="rect">
            <a:avLst/>
          </a:prstGeom>
          <a:noFill/>
          <a:ln/>
        </p:spPr>
        <p:txBody>
          <a:bodyPr wrap="square" lIns="0" tIns="0" rIns="0" bIns="0" rtlCol="0" anchor="ctr"/>
          <a:lstStyle/>
          <a:p>
            <a:pPr marL="0" indent="0">
              <a:buNone/>
            </a:pPr>
            <a:r>
              <a:rPr lang="en-US" sz="1250" dirty="0">
                <a:solidFill>
                  <a:schemeClr val="tx2"/>
                </a:solidFill>
              </a:rPr>
              <a:t>HTML, CSS y JavaScript</a:t>
            </a:r>
            <a:endParaRPr lang="en-US" sz="1250" dirty="0"/>
          </a:p>
          <a:p>
            <a:pPr marL="0" indent="0">
              <a:buNone/>
            </a:pPr>
            <a:r>
              <a:rPr lang="en-US" sz="1250" dirty="0">
                <a:solidFill>
                  <a:schemeClr val="tx2"/>
                </a:solidFill>
              </a:rPr>
              <a:t>Responsivo para PC y celular</a:t>
            </a:r>
            <a:endParaRPr lang="en-US" sz="1250" dirty="0"/>
          </a:p>
        </p:txBody>
      </p:sp>
      <p:sp>
        <p:nvSpPr>
          <p:cNvPr id="9" name="nodo-Apache + PHP 8.2.12"/>
          <p:cNvSpPr/>
          <p:nvPr/>
        </p:nvSpPr>
        <p:spPr>
          <a:xfrm>
            <a:off x="4617720" y="1783080"/>
            <a:ext cx="2926080" cy="1600200"/>
          </a:xfrm>
          <a:prstGeom prst="roundRect">
            <a:avLst>
              <a:gd name="adj" fmla="val 4571"/>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0" name="Shape 7"/>
          <p:cNvSpPr/>
          <p:nvPr/>
        </p:nvSpPr>
        <p:spPr>
          <a:xfrm>
            <a:off x="4846320" y="2011680"/>
            <a:ext cx="502920" cy="502920"/>
          </a:xfrm>
          <a:prstGeom prst="ellipse">
            <a:avLst/>
          </a:prstGeom>
          <a:solidFill>
            <a:schemeClr val="accent2"/>
          </a:solidFill>
          <a:ln w="12700">
            <a:solidFill>
              <a:schemeClr val="accent2"/>
            </a:solidFill>
            <a:prstDash val="solid"/>
          </a:ln>
        </p:spPr>
        <p:txBody>
          <a:bodyPr/>
          <a:lstStyle/>
          <a:p>
            <a:endParaRPr lang="es-CL"/>
          </a:p>
        </p:txBody>
      </p:sp>
      <p:pic>
        <p:nvPicPr>
          <p:cNvPr id="11" name="Image 1" descr="preencoded.png"/>
          <p:cNvPicPr>
            <a:picLocks noChangeAspect="1"/>
          </p:cNvPicPr>
          <p:nvPr/>
        </p:nvPicPr>
        <p:blipFill>
          <a:blip r:embed="rId4"/>
          <a:stretch>
            <a:fillRect/>
          </a:stretch>
        </p:blipFill>
        <p:spPr>
          <a:xfrm>
            <a:off x="4972050" y="2137410"/>
            <a:ext cx="251460" cy="251460"/>
          </a:xfrm>
          <a:prstGeom prst="rect">
            <a:avLst/>
          </a:prstGeom>
        </p:spPr>
      </p:pic>
      <p:sp>
        <p:nvSpPr>
          <p:cNvPr id="12" name="Text 8"/>
          <p:cNvSpPr txBox="1"/>
          <p:nvPr/>
        </p:nvSpPr>
        <p:spPr>
          <a:xfrm>
            <a:off x="5486400" y="2011680"/>
            <a:ext cx="1920240" cy="502920"/>
          </a:xfrm>
          <a:prstGeom prst="rect">
            <a:avLst/>
          </a:prstGeom>
          <a:noFill/>
          <a:ln/>
        </p:spPr>
        <p:txBody>
          <a:bodyPr wrap="square" lIns="0" tIns="0" rIns="0" bIns="0" rtlCol="0" anchor="ctr"/>
          <a:lstStyle/>
          <a:p>
            <a:pPr marL="0" indent="0">
              <a:buNone/>
            </a:pPr>
            <a:r>
              <a:rPr lang="en-US" sz="1500" b="1" dirty="0">
                <a:solidFill>
                  <a:schemeClr val="accent2"/>
                </a:solidFill>
              </a:rPr>
              <a:t>Apache + PHP 8.2.12</a:t>
            </a:r>
            <a:endParaRPr lang="en-US" sz="1500" dirty="0"/>
          </a:p>
        </p:txBody>
      </p:sp>
      <p:sp>
        <p:nvSpPr>
          <p:cNvPr id="13" name="Text 9"/>
          <p:cNvSpPr txBox="1"/>
          <p:nvPr/>
        </p:nvSpPr>
        <p:spPr>
          <a:xfrm>
            <a:off x="4846320" y="2651760"/>
            <a:ext cx="2468880" cy="640080"/>
          </a:xfrm>
          <a:prstGeom prst="rect">
            <a:avLst/>
          </a:prstGeom>
          <a:noFill/>
          <a:ln/>
        </p:spPr>
        <p:txBody>
          <a:bodyPr wrap="square" lIns="0" tIns="0" rIns="0" bIns="0" rtlCol="0" anchor="ctr"/>
          <a:lstStyle/>
          <a:p>
            <a:pPr marL="0" indent="0">
              <a:buNone/>
            </a:pPr>
            <a:r>
              <a:rPr lang="en-US" sz="1250" dirty="0">
                <a:solidFill>
                  <a:schemeClr val="tx2"/>
                </a:solidFill>
              </a:rPr>
              <a:t>Validaciones, permisos por junta</a:t>
            </a:r>
            <a:endParaRPr lang="en-US" sz="1250" dirty="0"/>
          </a:p>
          <a:p>
            <a:pPr marL="0" indent="0">
              <a:buNone/>
            </a:pPr>
            <a:r>
              <a:rPr lang="en-US" sz="1250" dirty="0">
                <a:solidFill>
                  <a:schemeClr val="tx2"/>
                </a:solidFill>
              </a:rPr>
              <a:t>Respuestas en JSON</a:t>
            </a:r>
            <a:endParaRPr lang="en-US" sz="1250" dirty="0"/>
          </a:p>
        </p:txBody>
      </p:sp>
      <p:sp>
        <p:nvSpPr>
          <p:cNvPr id="14" name="nodo-MariaDB 10.4.32"/>
          <p:cNvSpPr/>
          <p:nvPr/>
        </p:nvSpPr>
        <p:spPr>
          <a:xfrm>
            <a:off x="8595360" y="1783080"/>
            <a:ext cx="2926080" cy="1600200"/>
          </a:xfrm>
          <a:prstGeom prst="roundRect">
            <a:avLst>
              <a:gd name="adj" fmla="val 4571"/>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5" name="Shape 11"/>
          <p:cNvSpPr/>
          <p:nvPr/>
        </p:nvSpPr>
        <p:spPr>
          <a:xfrm>
            <a:off x="8823960" y="2011680"/>
            <a:ext cx="502920" cy="502920"/>
          </a:xfrm>
          <a:prstGeom prst="ellipse">
            <a:avLst/>
          </a:prstGeom>
          <a:solidFill>
            <a:schemeClr val="accent2"/>
          </a:solidFill>
          <a:ln w="12700">
            <a:solidFill>
              <a:schemeClr val="accent2"/>
            </a:solidFill>
            <a:prstDash val="solid"/>
          </a:ln>
        </p:spPr>
        <p:txBody>
          <a:bodyPr/>
          <a:lstStyle/>
          <a:p>
            <a:endParaRPr lang="es-CL"/>
          </a:p>
        </p:txBody>
      </p:sp>
      <p:pic>
        <p:nvPicPr>
          <p:cNvPr id="16" name="Image 2" descr="preencoded.png"/>
          <p:cNvPicPr>
            <a:picLocks noChangeAspect="1"/>
          </p:cNvPicPr>
          <p:nvPr/>
        </p:nvPicPr>
        <p:blipFill>
          <a:blip r:embed="rId5"/>
          <a:stretch>
            <a:fillRect/>
          </a:stretch>
        </p:blipFill>
        <p:spPr>
          <a:xfrm>
            <a:off x="8949690" y="2137410"/>
            <a:ext cx="251460" cy="251460"/>
          </a:xfrm>
          <a:prstGeom prst="rect">
            <a:avLst/>
          </a:prstGeom>
        </p:spPr>
      </p:pic>
      <p:sp>
        <p:nvSpPr>
          <p:cNvPr id="17" name="Text 12"/>
          <p:cNvSpPr txBox="1"/>
          <p:nvPr/>
        </p:nvSpPr>
        <p:spPr>
          <a:xfrm>
            <a:off x="9464040" y="2011680"/>
            <a:ext cx="1920240" cy="502920"/>
          </a:xfrm>
          <a:prstGeom prst="rect">
            <a:avLst/>
          </a:prstGeom>
          <a:noFill/>
          <a:ln/>
        </p:spPr>
        <p:txBody>
          <a:bodyPr wrap="square" lIns="0" tIns="0" rIns="0" bIns="0" rtlCol="0" anchor="ctr"/>
          <a:lstStyle/>
          <a:p>
            <a:pPr marL="0" indent="0">
              <a:buNone/>
            </a:pPr>
            <a:r>
              <a:rPr lang="en-US" sz="1500" b="1" dirty="0">
                <a:solidFill>
                  <a:schemeClr val="accent2"/>
                </a:solidFill>
              </a:rPr>
              <a:t>MariaDB 10.4.32</a:t>
            </a:r>
            <a:endParaRPr lang="en-US" sz="1500" dirty="0"/>
          </a:p>
        </p:txBody>
      </p:sp>
      <p:sp>
        <p:nvSpPr>
          <p:cNvPr id="18" name="Text 13"/>
          <p:cNvSpPr txBox="1"/>
          <p:nvPr/>
        </p:nvSpPr>
        <p:spPr>
          <a:xfrm>
            <a:off x="8823960" y="2651760"/>
            <a:ext cx="2468880" cy="640080"/>
          </a:xfrm>
          <a:prstGeom prst="rect">
            <a:avLst/>
          </a:prstGeom>
          <a:noFill/>
          <a:ln/>
        </p:spPr>
        <p:txBody>
          <a:bodyPr wrap="square" lIns="0" tIns="0" rIns="0" bIns="0" rtlCol="0" anchor="ctr"/>
          <a:lstStyle/>
          <a:p>
            <a:pPr marL="0" indent="0">
              <a:buNone/>
            </a:pPr>
            <a:r>
              <a:rPr lang="en-US" sz="1250" dirty="0">
                <a:solidFill>
                  <a:schemeClr val="tx2"/>
                </a:solidFill>
              </a:rPr>
              <a:t>Base unidad_territorial</a:t>
            </a:r>
            <a:endParaRPr lang="en-US" sz="1250" dirty="0"/>
          </a:p>
          <a:p>
            <a:pPr marL="0" indent="0">
              <a:buNone/>
            </a:pPr>
            <a:r>
              <a:rPr lang="en-US" sz="1250" dirty="0">
                <a:solidFill>
                  <a:schemeClr val="tx2"/>
                </a:solidFill>
              </a:rPr>
              <a:t>9 tablas ligadas a su junta</a:t>
            </a:r>
            <a:endParaRPr lang="en-US" sz="1250" dirty="0"/>
          </a:p>
        </p:txBody>
      </p:sp>
      <p:sp>
        <p:nvSpPr>
          <p:cNvPr id="19" name="Shape 14"/>
          <p:cNvSpPr/>
          <p:nvPr/>
        </p:nvSpPr>
        <p:spPr>
          <a:xfrm>
            <a:off x="3794760" y="2240280"/>
            <a:ext cx="594360" cy="457200"/>
          </a:xfrm>
          <a:prstGeom prst="rightArrow">
            <a:avLst/>
          </a:prstGeom>
          <a:solidFill>
            <a:schemeClr val="accent1"/>
          </a:solidFill>
          <a:ln w="12700">
            <a:solidFill>
              <a:schemeClr val="accent1"/>
            </a:solidFill>
            <a:prstDash val="solid"/>
          </a:ln>
        </p:spPr>
        <p:txBody>
          <a:bodyPr/>
          <a:lstStyle/>
          <a:p>
            <a:endParaRPr lang="es-CL"/>
          </a:p>
        </p:txBody>
      </p:sp>
      <p:sp>
        <p:nvSpPr>
          <p:cNvPr id="20" name="Text 15"/>
          <p:cNvSpPr txBox="1"/>
          <p:nvPr/>
        </p:nvSpPr>
        <p:spPr>
          <a:xfrm>
            <a:off x="3611880" y="2743200"/>
            <a:ext cx="960120" cy="457200"/>
          </a:xfrm>
          <a:prstGeom prst="rect">
            <a:avLst/>
          </a:prstGeom>
          <a:noFill/>
          <a:ln/>
        </p:spPr>
        <p:txBody>
          <a:bodyPr wrap="square" lIns="0" tIns="0" rIns="0" bIns="0" rtlCol="0" anchor="ctr"/>
          <a:lstStyle/>
          <a:p>
            <a:pPr marL="0" indent="0" algn="ctr">
              <a:buNone/>
            </a:pPr>
            <a:r>
              <a:rPr lang="en-US" sz="1050" dirty="0">
                <a:solidFill>
                  <a:schemeClr val="tx2"/>
                </a:solidFill>
              </a:rPr>
              <a:t>AJAX</a:t>
            </a:r>
            <a:endParaRPr lang="en-US" sz="1050" dirty="0"/>
          </a:p>
          <a:p>
            <a:pPr marL="0" indent="0" algn="ctr">
              <a:buNone/>
            </a:pPr>
            <a:r>
              <a:rPr lang="en-US" sz="1050" dirty="0">
                <a:solidFill>
                  <a:schemeClr val="tx2"/>
                </a:solidFill>
              </a:rPr>
              <a:t>(fetch)</a:t>
            </a:r>
            <a:endParaRPr lang="en-US" sz="1050" dirty="0"/>
          </a:p>
        </p:txBody>
      </p:sp>
      <p:sp>
        <p:nvSpPr>
          <p:cNvPr id="21" name="Shape 16"/>
          <p:cNvSpPr/>
          <p:nvPr/>
        </p:nvSpPr>
        <p:spPr>
          <a:xfrm>
            <a:off x="7772400" y="2240280"/>
            <a:ext cx="594360" cy="457200"/>
          </a:xfrm>
          <a:prstGeom prst="rightArrow">
            <a:avLst/>
          </a:prstGeom>
          <a:solidFill>
            <a:schemeClr val="accent1"/>
          </a:solidFill>
          <a:ln w="12700">
            <a:solidFill>
              <a:schemeClr val="accent1"/>
            </a:solidFill>
            <a:prstDash val="solid"/>
          </a:ln>
        </p:spPr>
        <p:txBody>
          <a:bodyPr/>
          <a:lstStyle/>
          <a:p>
            <a:endParaRPr lang="es-CL"/>
          </a:p>
        </p:txBody>
      </p:sp>
      <p:sp>
        <p:nvSpPr>
          <p:cNvPr id="22" name="Text 17"/>
          <p:cNvSpPr txBox="1"/>
          <p:nvPr/>
        </p:nvSpPr>
        <p:spPr>
          <a:xfrm>
            <a:off x="7589520" y="2743200"/>
            <a:ext cx="960120" cy="457200"/>
          </a:xfrm>
          <a:prstGeom prst="rect">
            <a:avLst/>
          </a:prstGeom>
          <a:noFill/>
          <a:ln/>
        </p:spPr>
        <p:txBody>
          <a:bodyPr wrap="square" lIns="0" tIns="0" rIns="0" bIns="0" rtlCol="0" anchor="ctr"/>
          <a:lstStyle/>
          <a:p>
            <a:pPr marL="0" indent="0" algn="ctr">
              <a:buNone/>
            </a:pPr>
            <a:r>
              <a:rPr lang="en-US" sz="1050" dirty="0">
                <a:solidFill>
                  <a:schemeClr val="tx2"/>
                </a:solidFill>
              </a:rPr>
              <a:t>Consultas</a:t>
            </a:r>
            <a:endParaRPr lang="en-US" sz="1050" dirty="0"/>
          </a:p>
          <a:p>
            <a:pPr marL="0" indent="0" algn="ctr">
              <a:buNone/>
            </a:pPr>
            <a:r>
              <a:rPr lang="en-US" sz="1050" dirty="0">
                <a:solidFill>
                  <a:schemeClr val="tx2"/>
                </a:solidFill>
              </a:rPr>
              <a:t>preparadas</a:t>
            </a:r>
            <a:endParaRPr lang="en-US" sz="1050" dirty="0"/>
          </a:p>
        </p:txBody>
      </p:sp>
      <p:sp>
        <p:nvSpPr>
          <p:cNvPr id="23" name="Shape 18"/>
          <p:cNvSpPr/>
          <p:nvPr/>
        </p:nvSpPr>
        <p:spPr>
          <a:xfrm>
            <a:off x="6080760" y="3383280"/>
            <a:ext cx="0" cy="320040"/>
          </a:xfrm>
          <a:prstGeom prst="line">
            <a:avLst/>
          </a:prstGeom>
          <a:noFill/>
          <a:ln w="15875">
            <a:solidFill>
              <a:schemeClr val="accent5"/>
            </a:solidFill>
            <a:prstDash val="dash"/>
          </a:ln>
        </p:spPr>
        <p:txBody>
          <a:bodyPr/>
          <a:lstStyle/>
          <a:p>
            <a:endParaRPr lang="es-CL"/>
          </a:p>
        </p:txBody>
      </p:sp>
      <p:sp>
        <p:nvSpPr>
          <p:cNvPr id="24" name="Shape 19"/>
          <p:cNvSpPr/>
          <p:nvPr/>
        </p:nvSpPr>
        <p:spPr>
          <a:xfrm>
            <a:off x="4343400" y="3703320"/>
            <a:ext cx="3474720" cy="0"/>
          </a:xfrm>
          <a:prstGeom prst="line">
            <a:avLst/>
          </a:prstGeom>
          <a:noFill/>
          <a:ln w="15875">
            <a:solidFill>
              <a:schemeClr val="accent5"/>
            </a:solidFill>
            <a:prstDash val="dash"/>
          </a:ln>
        </p:spPr>
        <p:txBody>
          <a:bodyPr/>
          <a:lstStyle/>
          <a:p>
            <a:endParaRPr lang="es-CL"/>
          </a:p>
        </p:txBody>
      </p:sp>
      <p:sp>
        <p:nvSpPr>
          <p:cNvPr id="25" name="Shape 20"/>
          <p:cNvSpPr/>
          <p:nvPr/>
        </p:nvSpPr>
        <p:spPr>
          <a:xfrm>
            <a:off x="4343400" y="3703320"/>
            <a:ext cx="0" cy="228600"/>
          </a:xfrm>
          <a:prstGeom prst="line">
            <a:avLst/>
          </a:prstGeom>
          <a:noFill/>
          <a:ln w="15875">
            <a:solidFill>
              <a:schemeClr val="accent5"/>
            </a:solidFill>
            <a:prstDash val="dash"/>
          </a:ln>
        </p:spPr>
        <p:txBody>
          <a:bodyPr/>
          <a:lstStyle/>
          <a:p>
            <a:endParaRPr lang="es-CL"/>
          </a:p>
        </p:txBody>
      </p:sp>
      <p:sp>
        <p:nvSpPr>
          <p:cNvPr id="26" name="lib-FPDF 1.9"/>
          <p:cNvSpPr/>
          <p:nvPr/>
        </p:nvSpPr>
        <p:spPr>
          <a:xfrm>
            <a:off x="2743200" y="3931920"/>
            <a:ext cx="3200400" cy="868680"/>
          </a:xfrm>
          <a:prstGeom prst="roundRect">
            <a:avLst>
              <a:gd name="adj" fmla="val 8421"/>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7" name="Shape 22"/>
          <p:cNvSpPr/>
          <p:nvPr/>
        </p:nvSpPr>
        <p:spPr>
          <a:xfrm>
            <a:off x="2926080" y="411480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28" name="Image 3" descr="preencoded.png"/>
          <p:cNvPicPr>
            <a:picLocks noChangeAspect="1"/>
          </p:cNvPicPr>
          <p:nvPr/>
        </p:nvPicPr>
        <p:blipFill>
          <a:blip r:embed="rId6"/>
          <a:stretch>
            <a:fillRect/>
          </a:stretch>
        </p:blipFill>
        <p:spPr>
          <a:xfrm>
            <a:off x="3051810" y="4240530"/>
            <a:ext cx="251460" cy="251460"/>
          </a:xfrm>
          <a:prstGeom prst="rect">
            <a:avLst/>
          </a:prstGeom>
        </p:spPr>
      </p:pic>
      <p:sp>
        <p:nvSpPr>
          <p:cNvPr id="29" name="Text 23"/>
          <p:cNvSpPr txBox="1"/>
          <p:nvPr/>
        </p:nvSpPr>
        <p:spPr>
          <a:xfrm>
            <a:off x="3566160" y="3977640"/>
            <a:ext cx="2240280" cy="777240"/>
          </a:xfrm>
          <a:prstGeom prst="rect">
            <a:avLst/>
          </a:prstGeom>
          <a:noFill/>
          <a:ln/>
        </p:spPr>
        <p:txBody>
          <a:bodyPr wrap="square" lIns="0" tIns="0" rIns="0" bIns="0" rtlCol="0" anchor="ctr"/>
          <a:lstStyle/>
          <a:p>
            <a:pPr marL="0" indent="0">
              <a:buNone/>
            </a:pPr>
            <a:r>
              <a:rPr lang="en-US" sz="1400" b="1" dirty="0">
                <a:solidFill>
                  <a:schemeClr val="accent2"/>
                </a:solidFill>
              </a:rPr>
              <a:t>FPDF 1.9</a:t>
            </a:r>
            <a:endParaRPr lang="en-US" sz="1400" dirty="0"/>
          </a:p>
          <a:p>
            <a:pPr marL="0" indent="0">
              <a:buNone/>
            </a:pPr>
            <a:r>
              <a:rPr lang="en-US" sz="1200" dirty="0">
                <a:solidFill>
                  <a:schemeClr val="tx2"/>
                </a:solidFill>
              </a:rPr>
              <a:t>Genera el certificado con firma, sello y código</a:t>
            </a:r>
            <a:endParaRPr lang="en-US" sz="1400" dirty="0"/>
          </a:p>
        </p:txBody>
      </p:sp>
      <p:sp>
        <p:nvSpPr>
          <p:cNvPr id="30" name="Shape 24"/>
          <p:cNvSpPr/>
          <p:nvPr/>
        </p:nvSpPr>
        <p:spPr>
          <a:xfrm>
            <a:off x="7863840" y="3703320"/>
            <a:ext cx="0" cy="228600"/>
          </a:xfrm>
          <a:prstGeom prst="line">
            <a:avLst/>
          </a:prstGeom>
          <a:noFill/>
          <a:ln w="15875">
            <a:solidFill>
              <a:schemeClr val="accent5"/>
            </a:solidFill>
            <a:prstDash val="dash"/>
          </a:ln>
        </p:spPr>
        <p:txBody>
          <a:bodyPr/>
          <a:lstStyle/>
          <a:p>
            <a:endParaRPr lang="es-CL"/>
          </a:p>
        </p:txBody>
      </p:sp>
      <p:sp>
        <p:nvSpPr>
          <p:cNvPr id="31" name="lib-PHPMailer + Gmail"/>
          <p:cNvSpPr/>
          <p:nvPr/>
        </p:nvSpPr>
        <p:spPr>
          <a:xfrm>
            <a:off x="6263640" y="3931920"/>
            <a:ext cx="3200400" cy="868680"/>
          </a:xfrm>
          <a:prstGeom prst="roundRect">
            <a:avLst>
              <a:gd name="adj" fmla="val 8421"/>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32" name="Shape 26"/>
          <p:cNvSpPr/>
          <p:nvPr/>
        </p:nvSpPr>
        <p:spPr>
          <a:xfrm>
            <a:off x="6446520" y="411480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33" name="Image 4" descr="preencoded.png"/>
          <p:cNvPicPr>
            <a:picLocks noChangeAspect="1"/>
          </p:cNvPicPr>
          <p:nvPr/>
        </p:nvPicPr>
        <p:blipFill>
          <a:blip r:embed="rId7"/>
          <a:stretch>
            <a:fillRect/>
          </a:stretch>
        </p:blipFill>
        <p:spPr>
          <a:xfrm>
            <a:off x="6572250" y="4240530"/>
            <a:ext cx="251460" cy="251460"/>
          </a:xfrm>
          <a:prstGeom prst="rect">
            <a:avLst/>
          </a:prstGeom>
        </p:spPr>
      </p:pic>
      <p:sp>
        <p:nvSpPr>
          <p:cNvPr id="34" name="Text 27"/>
          <p:cNvSpPr txBox="1"/>
          <p:nvPr/>
        </p:nvSpPr>
        <p:spPr>
          <a:xfrm>
            <a:off x="7086600" y="3977640"/>
            <a:ext cx="2240280" cy="777240"/>
          </a:xfrm>
          <a:prstGeom prst="rect">
            <a:avLst/>
          </a:prstGeom>
          <a:noFill/>
          <a:ln/>
        </p:spPr>
        <p:txBody>
          <a:bodyPr wrap="square" lIns="0" tIns="0" rIns="0" bIns="0" rtlCol="0" anchor="ctr"/>
          <a:lstStyle/>
          <a:p>
            <a:pPr marL="0" indent="0">
              <a:buNone/>
            </a:pPr>
            <a:r>
              <a:rPr lang="en-US" sz="1400" b="1" dirty="0">
                <a:solidFill>
                  <a:schemeClr val="accent2"/>
                </a:solidFill>
              </a:rPr>
              <a:t>PHPMailer + Gmail</a:t>
            </a:r>
            <a:endParaRPr lang="en-US" sz="1400" dirty="0"/>
          </a:p>
          <a:p>
            <a:pPr marL="0" indent="0">
              <a:buNone/>
            </a:pPr>
            <a:r>
              <a:rPr lang="en-US" sz="1200" dirty="0">
                <a:solidFill>
                  <a:schemeClr val="tx2"/>
                </a:solidFill>
              </a:rPr>
              <a:t>Envía los avisos de aprobación y rechazo</a:t>
            </a:r>
            <a:endParaRPr lang="en-US" sz="1400" dirty="0"/>
          </a:p>
        </p:txBody>
      </p:sp>
      <p:sp>
        <p:nvSpPr>
          <p:cNvPr id="35" name="stack-comparacion"/>
          <p:cNvSpPr/>
          <p:nvPr/>
        </p:nvSpPr>
        <p:spPr>
          <a:xfrm>
            <a:off x="640080" y="5074920"/>
            <a:ext cx="10881360" cy="1143000"/>
          </a:xfrm>
          <a:prstGeom prst="roundRect">
            <a:avLst>
              <a:gd name="adj" fmla="val 6400"/>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36" name="Text 29"/>
          <p:cNvSpPr txBox="1"/>
          <p:nvPr/>
        </p:nvSpPr>
        <p:spPr>
          <a:xfrm>
            <a:off x="914400" y="5212080"/>
            <a:ext cx="4937760" cy="868680"/>
          </a:xfrm>
          <a:prstGeom prst="rect">
            <a:avLst/>
          </a:prstGeom>
          <a:noFill/>
          <a:ln/>
        </p:spPr>
        <p:txBody>
          <a:bodyPr wrap="square" lIns="0" tIns="0" rIns="0" bIns="0" rtlCol="0" anchor="ctr"/>
          <a:lstStyle/>
          <a:p>
            <a:pPr marL="0" indent="0">
              <a:buNone/>
            </a:pPr>
            <a:r>
              <a:rPr lang="en-US" sz="1300" b="1" dirty="0">
                <a:solidFill>
                  <a:schemeClr val="tx2"/>
                </a:solidFill>
              </a:rPr>
              <a:t>Planificado en la Fase 1</a:t>
            </a:r>
            <a:endParaRPr lang="en-US" sz="1300" dirty="0"/>
          </a:p>
          <a:p>
            <a:pPr marL="0" indent="0">
              <a:buNone/>
            </a:pPr>
            <a:r>
              <a:rPr lang="en-US" sz="1400" dirty="0">
                <a:solidFill>
                  <a:schemeClr val="accent2"/>
                </a:solidFill>
              </a:rPr>
              <a:t>HTML / CSS / JavaScript · PHP · MySQL / MariaDB · XAMPP</a:t>
            </a:r>
            <a:endParaRPr lang="en-US" sz="1300" dirty="0"/>
          </a:p>
        </p:txBody>
      </p:sp>
      <p:sp>
        <p:nvSpPr>
          <p:cNvPr id="37" name="Text 30"/>
          <p:cNvSpPr txBox="1"/>
          <p:nvPr/>
        </p:nvSpPr>
        <p:spPr>
          <a:xfrm>
            <a:off x="6126480" y="5212080"/>
            <a:ext cx="5212080" cy="868680"/>
          </a:xfrm>
          <a:prstGeom prst="rect">
            <a:avLst/>
          </a:prstGeom>
          <a:noFill/>
          <a:ln/>
        </p:spPr>
        <p:txBody>
          <a:bodyPr wrap="square" lIns="0" tIns="0" rIns="0" bIns="0" rtlCol="0" anchor="ctr"/>
          <a:lstStyle/>
          <a:p>
            <a:pPr marL="0" indent="0">
              <a:buNone/>
            </a:pPr>
            <a:r>
              <a:rPr lang="en-US" sz="1300" b="1" dirty="0">
                <a:solidFill>
                  <a:schemeClr val="accent1"/>
                </a:solidFill>
              </a:rPr>
              <a:t>Lo que sumamos en el desarrollo</a:t>
            </a:r>
            <a:endParaRPr lang="en-US" sz="1300" dirty="0"/>
          </a:p>
          <a:p>
            <a:pPr marL="0" indent="0">
              <a:buNone/>
            </a:pPr>
            <a:r>
              <a:rPr lang="en-US" sz="1400" dirty="0">
                <a:solidFill>
                  <a:schemeClr val="accent2"/>
                </a:solidFill>
              </a:rPr>
              <a:t>AJAX con JSON · FPDF · PHPMailer con Gmail · tipografía Atkinson Hyperlegible</a:t>
            </a:r>
            <a:endParaRPr lang="en-US" sz="1300" dirty="0"/>
          </a:p>
        </p:txBody>
      </p:sp>
      <p:sp>
        <p:nvSpPr>
          <p:cNvPr id="38"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MULTI-OPERACIÓN</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bg1"/>
                </a:solidFill>
                <a:latin typeface="Cambria" pitchFamily="34" charset="0"/>
                <a:ea typeface="Cambria" pitchFamily="34" charset="-122"/>
                <a:cs typeface="Cambria" pitchFamily="34" charset="-120"/>
              </a:rPr>
              <a:t>Varias juntas en un mismo sistema, ahora probado</a:t>
            </a:r>
            <a:endParaRPr lang="en-US" sz="3000" dirty="0"/>
          </a:p>
        </p:txBody>
      </p:sp>
      <p:sp>
        <p:nvSpPr>
          <p:cNvPr id="4" name="Text 2"/>
          <p:cNvSpPr txBox="1"/>
          <p:nvPr/>
        </p:nvSpPr>
        <p:spPr>
          <a:xfrm>
            <a:off x="640080" y="1600200"/>
            <a:ext cx="4389120" cy="548640"/>
          </a:xfrm>
          <a:prstGeom prst="rect">
            <a:avLst/>
          </a:prstGeom>
          <a:noFill/>
          <a:ln/>
        </p:spPr>
        <p:txBody>
          <a:bodyPr wrap="square" lIns="0" tIns="0" rIns="0" bIns="0" rtlCol="0" anchor="ctr"/>
          <a:lstStyle/>
          <a:p>
            <a:pPr marL="0" indent="0">
              <a:buNone/>
            </a:pPr>
            <a:r>
              <a:rPr lang="en-US" sz="1500" dirty="0">
                <a:solidFill>
                  <a:schemeClr val="accent5"/>
                </a:solidFill>
              </a:rPr>
              <a:t>En la Fase 1 lo explicamos con el ejemplo de Gmail. Hoy funciona así:</a:t>
            </a:r>
            <a:endParaRPr lang="en-US" sz="1500" dirty="0"/>
          </a:p>
        </p:txBody>
      </p:sp>
      <p:sp>
        <p:nvSpPr>
          <p:cNvPr id="5" name="Shape 3"/>
          <p:cNvSpPr/>
          <p:nvPr/>
        </p:nvSpPr>
        <p:spPr>
          <a:xfrm>
            <a:off x="640080" y="228600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6" name="Image 0" descr="preencoded.png"/>
          <p:cNvPicPr>
            <a:picLocks noChangeAspect="1"/>
          </p:cNvPicPr>
          <p:nvPr/>
        </p:nvPicPr>
        <p:blipFill>
          <a:blip r:embed="rId3"/>
          <a:stretch>
            <a:fillRect/>
          </a:stretch>
        </p:blipFill>
        <p:spPr>
          <a:xfrm>
            <a:off x="765810" y="2411730"/>
            <a:ext cx="251460" cy="251460"/>
          </a:xfrm>
          <a:prstGeom prst="rect">
            <a:avLst/>
          </a:prstGeom>
        </p:spPr>
      </p:pic>
      <p:sp>
        <p:nvSpPr>
          <p:cNvPr id="7" name="Text 4"/>
          <p:cNvSpPr txBox="1"/>
          <p:nvPr/>
        </p:nvSpPr>
        <p:spPr>
          <a:xfrm>
            <a:off x="1325880" y="2194560"/>
            <a:ext cx="3749040" cy="731520"/>
          </a:xfrm>
          <a:prstGeom prst="rect">
            <a:avLst/>
          </a:prstGeom>
          <a:noFill/>
          <a:ln/>
        </p:spPr>
        <p:txBody>
          <a:bodyPr wrap="square" lIns="0" tIns="0" rIns="0" bIns="0" rtlCol="0" anchor="ctr"/>
          <a:lstStyle/>
          <a:p>
            <a:pPr marL="0" indent="0">
              <a:buNone/>
            </a:pPr>
            <a:r>
              <a:rPr lang="en-US" sz="1400" dirty="0">
                <a:solidFill>
                  <a:schemeClr val="bg1"/>
                </a:solidFill>
              </a:rPr>
              <a:t>Cada vecino, noticia, proyecto y actividad lleva el id de su junta.</a:t>
            </a:r>
            <a:endParaRPr lang="en-US" sz="1400" dirty="0"/>
          </a:p>
        </p:txBody>
      </p:sp>
      <p:sp>
        <p:nvSpPr>
          <p:cNvPr id="8" name="Shape 5"/>
          <p:cNvSpPr/>
          <p:nvPr/>
        </p:nvSpPr>
        <p:spPr>
          <a:xfrm>
            <a:off x="640080" y="324612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9" name="Image 1" descr="preencoded.png"/>
          <p:cNvPicPr>
            <a:picLocks noChangeAspect="1"/>
          </p:cNvPicPr>
          <p:nvPr/>
        </p:nvPicPr>
        <p:blipFill>
          <a:blip r:embed="rId4"/>
          <a:stretch>
            <a:fillRect/>
          </a:stretch>
        </p:blipFill>
        <p:spPr>
          <a:xfrm>
            <a:off x="765810" y="3371850"/>
            <a:ext cx="251460" cy="251460"/>
          </a:xfrm>
          <a:prstGeom prst="rect">
            <a:avLst/>
          </a:prstGeom>
        </p:spPr>
      </p:pic>
      <p:sp>
        <p:nvSpPr>
          <p:cNvPr id="10" name="Text 6"/>
          <p:cNvSpPr txBox="1"/>
          <p:nvPr/>
        </p:nvSpPr>
        <p:spPr>
          <a:xfrm>
            <a:off x="1325880" y="3154680"/>
            <a:ext cx="3749040" cy="731520"/>
          </a:xfrm>
          <a:prstGeom prst="rect">
            <a:avLst/>
          </a:prstGeom>
          <a:noFill/>
          <a:ln/>
        </p:spPr>
        <p:txBody>
          <a:bodyPr wrap="square" lIns="0" tIns="0" rIns="0" bIns="0" rtlCol="0" anchor="ctr"/>
          <a:lstStyle/>
          <a:p>
            <a:pPr marL="0" indent="0">
              <a:buNone/>
            </a:pPr>
            <a:r>
              <a:rPr lang="en-US" sz="1400" dirty="0">
                <a:solidFill>
                  <a:schemeClr val="bg1"/>
                </a:solidFill>
              </a:rPr>
              <a:t>Al iniciar sesión el sistema guarda la junta y filtra todo con ella.</a:t>
            </a:r>
            <a:endParaRPr lang="en-US" sz="1400" dirty="0"/>
          </a:p>
        </p:txBody>
      </p:sp>
      <p:sp>
        <p:nvSpPr>
          <p:cNvPr id="11" name="Shape 7"/>
          <p:cNvSpPr/>
          <p:nvPr/>
        </p:nvSpPr>
        <p:spPr>
          <a:xfrm>
            <a:off x="640080" y="420624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12" name="Image 2" descr="preencoded.png"/>
          <p:cNvPicPr>
            <a:picLocks noChangeAspect="1"/>
          </p:cNvPicPr>
          <p:nvPr/>
        </p:nvPicPr>
        <p:blipFill>
          <a:blip r:embed="rId5"/>
          <a:stretch>
            <a:fillRect/>
          </a:stretch>
        </p:blipFill>
        <p:spPr>
          <a:xfrm>
            <a:off x="765810" y="4331970"/>
            <a:ext cx="251460" cy="251460"/>
          </a:xfrm>
          <a:prstGeom prst="rect">
            <a:avLst/>
          </a:prstGeom>
        </p:spPr>
      </p:pic>
      <p:sp>
        <p:nvSpPr>
          <p:cNvPr id="13" name="Text 8"/>
          <p:cNvSpPr txBox="1"/>
          <p:nvPr/>
        </p:nvSpPr>
        <p:spPr>
          <a:xfrm>
            <a:off x="1325880" y="4114800"/>
            <a:ext cx="3749040" cy="731520"/>
          </a:xfrm>
          <a:prstGeom prst="rect">
            <a:avLst/>
          </a:prstGeom>
          <a:noFill/>
          <a:ln/>
        </p:spPr>
        <p:txBody>
          <a:bodyPr wrap="square" lIns="0" tIns="0" rIns="0" bIns="0" rtlCol="0" anchor="ctr"/>
          <a:lstStyle/>
          <a:p>
            <a:pPr marL="0" indent="0">
              <a:buNone/>
            </a:pPr>
            <a:r>
              <a:rPr lang="en-US" sz="1400" dirty="0">
                <a:solidFill>
                  <a:schemeClr val="bg1"/>
                </a:solidFill>
              </a:rPr>
              <a:t>Si el directorio intenta escribirle a un vecino de otra junta, el sistema lo bloquea.</a:t>
            </a:r>
            <a:endParaRPr lang="en-US" sz="1400" dirty="0"/>
          </a:p>
        </p:txBody>
      </p:sp>
      <p:sp>
        <p:nvSpPr>
          <p:cNvPr id="14" name="Shape 9"/>
          <p:cNvSpPr/>
          <p:nvPr/>
        </p:nvSpPr>
        <p:spPr>
          <a:xfrm>
            <a:off x="640080" y="516636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15" name="Image 3" descr="preencoded.png"/>
          <p:cNvPicPr>
            <a:picLocks noChangeAspect="1"/>
          </p:cNvPicPr>
          <p:nvPr/>
        </p:nvPicPr>
        <p:blipFill>
          <a:blip r:embed="rId6"/>
          <a:stretch>
            <a:fillRect/>
          </a:stretch>
        </p:blipFill>
        <p:spPr>
          <a:xfrm>
            <a:off x="765810" y="5292090"/>
            <a:ext cx="251460" cy="251460"/>
          </a:xfrm>
          <a:prstGeom prst="rect">
            <a:avLst/>
          </a:prstGeom>
        </p:spPr>
      </p:pic>
      <p:sp>
        <p:nvSpPr>
          <p:cNvPr id="16" name="Text 10"/>
          <p:cNvSpPr txBox="1"/>
          <p:nvPr/>
        </p:nvSpPr>
        <p:spPr>
          <a:xfrm>
            <a:off x="1325880" y="5074920"/>
            <a:ext cx="3749040" cy="731520"/>
          </a:xfrm>
          <a:prstGeom prst="rect">
            <a:avLst/>
          </a:prstGeom>
          <a:noFill/>
          <a:ln/>
        </p:spPr>
        <p:txBody>
          <a:bodyPr wrap="square" lIns="0" tIns="0" rIns="0" bIns="0" rtlCol="0" anchor="ctr"/>
          <a:lstStyle/>
          <a:p>
            <a:pPr marL="0" indent="0">
              <a:buNone/>
            </a:pPr>
            <a:r>
              <a:rPr lang="en-US" sz="1400" dirty="0">
                <a:solidFill>
                  <a:schemeClr val="bg1"/>
                </a:solidFill>
              </a:rPr>
              <a:t>Probamos creando juntas nuevas, como una de Valparaíso: su directiva solo ve lo suyo.</a:t>
            </a:r>
            <a:endParaRPr lang="en-US" sz="1400" dirty="0"/>
          </a:p>
        </p:txBody>
      </p:sp>
      <p:sp>
        <p:nvSpPr>
          <p:cNvPr id="17" name="Shape 11"/>
          <p:cNvSpPr/>
          <p:nvPr/>
        </p:nvSpPr>
        <p:spPr>
          <a:xfrm>
            <a:off x="5404104" y="1700784"/>
            <a:ext cx="6153912" cy="3073882"/>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18" name="Image 4" descr="/tmp/claude-0/-home-claude/4e4a74b1-2813-5a2f-9dff-90fa629fd6e3/scratchpad/deck/shots/otrajunta.png"/>
          <p:cNvPicPr>
            <a:picLocks noChangeAspect="1"/>
          </p:cNvPicPr>
          <p:nvPr/>
        </p:nvPicPr>
        <p:blipFill>
          <a:blip r:embed="rId7"/>
          <a:stretch>
            <a:fillRect/>
          </a:stretch>
        </p:blipFill>
        <p:spPr>
          <a:xfrm>
            <a:off x="5440680" y="1737360"/>
            <a:ext cx="6080760" cy="3000730"/>
          </a:xfrm>
          <a:prstGeom prst="rect">
            <a:avLst/>
          </a:prstGeom>
        </p:spPr>
      </p:pic>
      <p:sp>
        <p:nvSpPr>
          <p:cNvPr id="19" name="Text 12"/>
          <p:cNvSpPr txBox="1"/>
          <p:nvPr/>
        </p:nvSpPr>
        <p:spPr>
          <a:xfrm>
            <a:off x="5440680" y="4875250"/>
            <a:ext cx="6080760" cy="320040"/>
          </a:xfrm>
          <a:prstGeom prst="rect">
            <a:avLst/>
          </a:prstGeom>
          <a:noFill/>
          <a:ln/>
        </p:spPr>
        <p:txBody>
          <a:bodyPr wrap="square" lIns="0" tIns="0" rIns="0" bIns="0" rtlCol="0" anchor="ctr"/>
          <a:lstStyle/>
          <a:p>
            <a:pPr marL="0" indent="0">
              <a:buNone/>
            </a:pPr>
            <a:r>
              <a:rPr lang="en-US" sz="1100" i="1" dirty="0">
                <a:solidFill>
                  <a:schemeClr val="accent5"/>
                </a:solidFill>
              </a:rPr>
              <a:t>El sistema bloquea el envío de mensajes a vecinos de otra junta.</a:t>
            </a:r>
            <a:endParaRPr lang="en-US" sz="11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INVESTIGACIÓN APLICADA, YA IMPLEMENTADA</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Del formulario al certificado verificable</a:t>
            </a:r>
            <a:endParaRPr lang="en-US" sz="3000" dirty="0"/>
          </a:p>
        </p:txBody>
      </p:sp>
      <p:sp>
        <p:nvSpPr>
          <p:cNvPr id="4" name="paso-0"/>
          <p:cNvSpPr/>
          <p:nvPr/>
        </p:nvSpPr>
        <p:spPr>
          <a:xfrm>
            <a:off x="640080" y="1737360"/>
            <a:ext cx="2011680" cy="960120"/>
          </a:xfrm>
          <a:prstGeom prst="roundRect">
            <a:avLst>
              <a:gd name="adj" fmla="val 761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5" name="Shape 3"/>
          <p:cNvSpPr/>
          <p:nvPr/>
        </p:nvSpPr>
        <p:spPr>
          <a:xfrm>
            <a:off x="777240" y="1984248"/>
            <a:ext cx="457200" cy="457200"/>
          </a:xfrm>
          <a:prstGeom prst="ellipse">
            <a:avLst/>
          </a:prstGeom>
          <a:solidFill>
            <a:schemeClr val="accent1"/>
          </a:solidFill>
          <a:ln w="12700">
            <a:solidFill>
              <a:schemeClr val="accent1"/>
            </a:solidFill>
            <a:prstDash val="solid"/>
          </a:ln>
        </p:spPr>
        <p:txBody>
          <a:bodyPr/>
          <a:lstStyle/>
          <a:p>
            <a:endParaRPr lang="es-CL"/>
          </a:p>
        </p:txBody>
      </p:sp>
      <p:sp>
        <p:nvSpPr>
          <p:cNvPr id="6" name="Text 4"/>
          <p:cNvSpPr txBox="1"/>
          <p:nvPr/>
        </p:nvSpPr>
        <p:spPr>
          <a:xfrm>
            <a:off x="777240" y="198424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5"/>
          <p:cNvSpPr txBox="1"/>
          <p:nvPr/>
        </p:nvSpPr>
        <p:spPr>
          <a:xfrm>
            <a:off x="1325880" y="1783080"/>
            <a:ext cx="1234440" cy="868680"/>
          </a:xfrm>
          <a:prstGeom prst="rect">
            <a:avLst/>
          </a:prstGeom>
          <a:noFill/>
          <a:ln/>
        </p:spPr>
        <p:txBody>
          <a:bodyPr wrap="square" lIns="0" tIns="0" rIns="0" bIns="0" rtlCol="0" anchor="ctr"/>
          <a:lstStyle/>
          <a:p>
            <a:pPr marL="0" indent="0">
              <a:buNone/>
            </a:pPr>
            <a:r>
              <a:rPr lang="en-US" sz="1250" b="1" dirty="0">
                <a:solidFill>
                  <a:schemeClr val="accent2"/>
                </a:solidFill>
              </a:rPr>
              <a:t>Vecino solicita e indica el motivo</a:t>
            </a:r>
            <a:endParaRPr lang="en-US" sz="1250" dirty="0"/>
          </a:p>
        </p:txBody>
      </p:sp>
      <p:sp>
        <p:nvSpPr>
          <p:cNvPr id="8" name="paso-1"/>
          <p:cNvSpPr/>
          <p:nvPr/>
        </p:nvSpPr>
        <p:spPr>
          <a:xfrm>
            <a:off x="2857500" y="1737360"/>
            <a:ext cx="2011680" cy="960120"/>
          </a:xfrm>
          <a:prstGeom prst="roundRect">
            <a:avLst>
              <a:gd name="adj" fmla="val 761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9" name="Shape 7"/>
          <p:cNvSpPr/>
          <p:nvPr/>
        </p:nvSpPr>
        <p:spPr>
          <a:xfrm>
            <a:off x="2994660" y="1984248"/>
            <a:ext cx="457200" cy="457200"/>
          </a:xfrm>
          <a:prstGeom prst="ellipse">
            <a:avLst/>
          </a:prstGeom>
          <a:solidFill>
            <a:schemeClr val="accent1"/>
          </a:solidFill>
          <a:ln w="12700">
            <a:solidFill>
              <a:schemeClr val="accent1"/>
            </a:solidFill>
            <a:prstDash val="solid"/>
          </a:ln>
        </p:spPr>
        <p:txBody>
          <a:bodyPr/>
          <a:lstStyle/>
          <a:p>
            <a:endParaRPr lang="es-CL"/>
          </a:p>
        </p:txBody>
      </p:sp>
      <p:sp>
        <p:nvSpPr>
          <p:cNvPr id="10" name="Text 8"/>
          <p:cNvSpPr txBox="1"/>
          <p:nvPr/>
        </p:nvSpPr>
        <p:spPr>
          <a:xfrm>
            <a:off x="2994660" y="198424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1" name="Text 9"/>
          <p:cNvSpPr txBox="1"/>
          <p:nvPr/>
        </p:nvSpPr>
        <p:spPr>
          <a:xfrm>
            <a:off x="3543300" y="1783080"/>
            <a:ext cx="1234440" cy="868680"/>
          </a:xfrm>
          <a:prstGeom prst="rect">
            <a:avLst/>
          </a:prstGeom>
          <a:noFill/>
          <a:ln/>
        </p:spPr>
        <p:txBody>
          <a:bodyPr wrap="square" lIns="0" tIns="0" rIns="0" bIns="0" rtlCol="0" anchor="ctr"/>
          <a:lstStyle/>
          <a:p>
            <a:pPr marL="0" indent="0">
              <a:buNone/>
            </a:pPr>
            <a:r>
              <a:rPr lang="en-US" sz="1250" b="1" dirty="0">
                <a:solidFill>
                  <a:schemeClr val="accent2"/>
                </a:solidFill>
              </a:rPr>
              <a:t>Directorio aprueba o rechaza</a:t>
            </a:r>
            <a:endParaRPr lang="en-US" sz="1250" dirty="0"/>
          </a:p>
        </p:txBody>
      </p:sp>
      <p:sp>
        <p:nvSpPr>
          <p:cNvPr id="12" name="paso-2"/>
          <p:cNvSpPr/>
          <p:nvPr/>
        </p:nvSpPr>
        <p:spPr>
          <a:xfrm>
            <a:off x="5074920" y="1737360"/>
            <a:ext cx="2011680" cy="960120"/>
          </a:xfrm>
          <a:prstGeom prst="roundRect">
            <a:avLst>
              <a:gd name="adj" fmla="val 761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3" name="Shape 11"/>
          <p:cNvSpPr/>
          <p:nvPr/>
        </p:nvSpPr>
        <p:spPr>
          <a:xfrm>
            <a:off x="5212080" y="1984248"/>
            <a:ext cx="457200" cy="457200"/>
          </a:xfrm>
          <a:prstGeom prst="ellipse">
            <a:avLst/>
          </a:prstGeom>
          <a:solidFill>
            <a:schemeClr val="accent1"/>
          </a:solidFill>
          <a:ln w="12700">
            <a:solidFill>
              <a:schemeClr val="accent1"/>
            </a:solidFill>
            <a:prstDash val="solid"/>
          </a:ln>
        </p:spPr>
        <p:txBody>
          <a:bodyPr/>
          <a:lstStyle/>
          <a:p>
            <a:endParaRPr lang="es-CL"/>
          </a:p>
        </p:txBody>
      </p:sp>
      <p:sp>
        <p:nvSpPr>
          <p:cNvPr id="14" name="Text 12"/>
          <p:cNvSpPr txBox="1"/>
          <p:nvPr/>
        </p:nvSpPr>
        <p:spPr>
          <a:xfrm>
            <a:off x="5212080" y="198424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5" name="Text 13"/>
          <p:cNvSpPr txBox="1"/>
          <p:nvPr/>
        </p:nvSpPr>
        <p:spPr>
          <a:xfrm>
            <a:off x="5760720" y="1783080"/>
            <a:ext cx="1234440" cy="868680"/>
          </a:xfrm>
          <a:prstGeom prst="rect">
            <a:avLst/>
          </a:prstGeom>
          <a:noFill/>
          <a:ln/>
        </p:spPr>
        <p:txBody>
          <a:bodyPr wrap="square" lIns="0" tIns="0" rIns="0" bIns="0" rtlCol="0" anchor="ctr"/>
          <a:lstStyle/>
          <a:p>
            <a:pPr marL="0" indent="0">
              <a:buNone/>
            </a:pPr>
            <a:r>
              <a:rPr lang="en-US" sz="1250" b="1" dirty="0">
                <a:solidFill>
                  <a:schemeClr val="accent2"/>
                </a:solidFill>
              </a:rPr>
              <a:t>Llega un correo con el código</a:t>
            </a:r>
            <a:endParaRPr lang="en-US" sz="1250" dirty="0"/>
          </a:p>
        </p:txBody>
      </p:sp>
      <p:sp>
        <p:nvSpPr>
          <p:cNvPr id="16" name="paso-3"/>
          <p:cNvSpPr/>
          <p:nvPr/>
        </p:nvSpPr>
        <p:spPr>
          <a:xfrm>
            <a:off x="7292340" y="1737360"/>
            <a:ext cx="2011680" cy="960120"/>
          </a:xfrm>
          <a:prstGeom prst="roundRect">
            <a:avLst>
              <a:gd name="adj" fmla="val 7619"/>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7" name="Shape 15"/>
          <p:cNvSpPr/>
          <p:nvPr/>
        </p:nvSpPr>
        <p:spPr>
          <a:xfrm>
            <a:off x="7429500" y="1984248"/>
            <a:ext cx="457200" cy="457200"/>
          </a:xfrm>
          <a:prstGeom prst="ellipse">
            <a:avLst/>
          </a:prstGeom>
          <a:solidFill>
            <a:schemeClr val="accent1"/>
          </a:solidFill>
          <a:ln w="12700">
            <a:solidFill>
              <a:schemeClr val="accent1"/>
            </a:solidFill>
            <a:prstDash val="solid"/>
          </a:ln>
        </p:spPr>
        <p:txBody>
          <a:bodyPr/>
          <a:lstStyle/>
          <a:p>
            <a:endParaRPr lang="es-CL"/>
          </a:p>
        </p:txBody>
      </p:sp>
      <p:sp>
        <p:nvSpPr>
          <p:cNvPr id="18" name="Text 16"/>
          <p:cNvSpPr txBox="1"/>
          <p:nvPr/>
        </p:nvSpPr>
        <p:spPr>
          <a:xfrm>
            <a:off x="7429500" y="198424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9" name="Text 17"/>
          <p:cNvSpPr txBox="1"/>
          <p:nvPr/>
        </p:nvSpPr>
        <p:spPr>
          <a:xfrm>
            <a:off x="7978140" y="1783080"/>
            <a:ext cx="1234440" cy="868680"/>
          </a:xfrm>
          <a:prstGeom prst="rect">
            <a:avLst/>
          </a:prstGeom>
          <a:noFill/>
          <a:ln/>
        </p:spPr>
        <p:txBody>
          <a:bodyPr wrap="square" lIns="0" tIns="0" rIns="0" bIns="0" rtlCol="0" anchor="ctr"/>
          <a:lstStyle/>
          <a:p>
            <a:pPr marL="0" indent="0">
              <a:buNone/>
            </a:pPr>
            <a:r>
              <a:rPr lang="en-US" sz="1250" b="1" dirty="0">
                <a:solidFill>
                  <a:schemeClr val="accent2"/>
                </a:solidFill>
              </a:rPr>
              <a:t>Descarga el PDF con firma y sello</a:t>
            </a:r>
            <a:endParaRPr lang="en-US" sz="1250" dirty="0"/>
          </a:p>
        </p:txBody>
      </p:sp>
      <p:sp>
        <p:nvSpPr>
          <p:cNvPr id="20" name="paso-4"/>
          <p:cNvSpPr/>
          <p:nvPr/>
        </p:nvSpPr>
        <p:spPr>
          <a:xfrm>
            <a:off x="9509760" y="1737360"/>
            <a:ext cx="2011680" cy="960120"/>
          </a:xfrm>
          <a:prstGeom prst="roundRect">
            <a:avLst>
              <a:gd name="adj" fmla="val 7619"/>
            </a:avLst>
          </a:prstGeom>
          <a:solidFill>
            <a:schemeClr val="accent2"/>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1" name="Shape 19"/>
          <p:cNvSpPr/>
          <p:nvPr/>
        </p:nvSpPr>
        <p:spPr>
          <a:xfrm>
            <a:off x="9646920" y="1984248"/>
            <a:ext cx="457200" cy="457200"/>
          </a:xfrm>
          <a:prstGeom prst="ellipse">
            <a:avLst/>
          </a:prstGeom>
          <a:solidFill>
            <a:schemeClr val="accent1"/>
          </a:solidFill>
          <a:ln w="12700">
            <a:solidFill>
              <a:schemeClr val="accent1"/>
            </a:solidFill>
            <a:prstDash val="solid"/>
          </a:ln>
        </p:spPr>
        <p:txBody>
          <a:bodyPr/>
          <a:lstStyle/>
          <a:p>
            <a:endParaRPr lang="es-CL"/>
          </a:p>
        </p:txBody>
      </p:sp>
      <p:sp>
        <p:nvSpPr>
          <p:cNvPr id="22" name="Text 20"/>
          <p:cNvSpPr txBox="1"/>
          <p:nvPr/>
        </p:nvSpPr>
        <p:spPr>
          <a:xfrm>
            <a:off x="9646920" y="198424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3" name="Text 21"/>
          <p:cNvSpPr txBox="1"/>
          <p:nvPr/>
        </p:nvSpPr>
        <p:spPr>
          <a:xfrm>
            <a:off x="10195560" y="1783080"/>
            <a:ext cx="1234440" cy="868680"/>
          </a:xfrm>
          <a:prstGeom prst="rect">
            <a:avLst/>
          </a:prstGeom>
          <a:noFill/>
          <a:ln/>
        </p:spPr>
        <p:txBody>
          <a:bodyPr wrap="square" lIns="0" tIns="0" rIns="0" bIns="0" rtlCol="0" anchor="ctr"/>
          <a:lstStyle/>
          <a:p>
            <a:pPr marL="0" indent="0">
              <a:buNone/>
            </a:pPr>
            <a:r>
              <a:rPr lang="en-US" sz="1250" b="1" dirty="0">
                <a:solidFill>
                  <a:schemeClr val="bg1"/>
                </a:solidFill>
              </a:rPr>
              <a:t>Cualquiera lo verifica en línea</a:t>
            </a:r>
            <a:endParaRPr lang="en-US" sz="1250" dirty="0"/>
          </a:p>
        </p:txBody>
      </p:sp>
      <p:sp>
        <p:nvSpPr>
          <p:cNvPr id="24" name="Shape 22"/>
          <p:cNvSpPr/>
          <p:nvPr/>
        </p:nvSpPr>
        <p:spPr>
          <a:xfrm>
            <a:off x="603504" y="2980944"/>
            <a:ext cx="5376672" cy="2817592"/>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25" name="Image 0" descr="/tmp/claude-0/-home-claude/4e4a74b1-2813-5a2f-9dff-90fa629fd6e3/scratchpad/deck/shots/pdf.png"/>
          <p:cNvPicPr>
            <a:picLocks noChangeAspect="1"/>
          </p:cNvPicPr>
          <p:nvPr/>
        </p:nvPicPr>
        <p:blipFill>
          <a:blip r:embed="rId3"/>
          <a:stretch>
            <a:fillRect/>
          </a:stretch>
        </p:blipFill>
        <p:spPr>
          <a:xfrm>
            <a:off x="640080" y="3017520"/>
            <a:ext cx="5303520" cy="2744440"/>
          </a:xfrm>
          <a:prstGeom prst="rect">
            <a:avLst/>
          </a:prstGeom>
        </p:spPr>
      </p:pic>
      <p:sp>
        <p:nvSpPr>
          <p:cNvPr id="26" name="Shape 23"/>
          <p:cNvSpPr/>
          <p:nvPr/>
        </p:nvSpPr>
        <p:spPr>
          <a:xfrm>
            <a:off x="6181344" y="2980944"/>
            <a:ext cx="5376672" cy="2817592"/>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27" name="Image 1" descr="/tmp/claude-0/-home-claude/4e4a74b1-2813-5a2f-9dff-90fa629fd6e3/scratchpad/deck/shots/verif.png"/>
          <p:cNvPicPr>
            <a:picLocks noChangeAspect="1"/>
          </p:cNvPicPr>
          <p:nvPr/>
        </p:nvPicPr>
        <p:blipFill>
          <a:blip r:embed="rId4"/>
          <a:stretch>
            <a:fillRect/>
          </a:stretch>
        </p:blipFill>
        <p:spPr>
          <a:xfrm>
            <a:off x="6217920" y="3017520"/>
            <a:ext cx="5303520" cy="2744440"/>
          </a:xfrm>
          <a:prstGeom prst="rect">
            <a:avLst/>
          </a:prstGeom>
        </p:spPr>
      </p:pic>
      <p:sp>
        <p:nvSpPr>
          <p:cNvPr id="28" name="Text 24"/>
          <p:cNvSpPr txBox="1"/>
          <p:nvPr/>
        </p:nvSpPr>
        <p:spPr>
          <a:xfrm>
            <a:off x="640080" y="5871688"/>
            <a:ext cx="5303520" cy="365760"/>
          </a:xfrm>
          <a:prstGeom prst="rect">
            <a:avLst/>
          </a:prstGeom>
          <a:noFill/>
          <a:ln/>
        </p:spPr>
        <p:txBody>
          <a:bodyPr wrap="square" lIns="0" tIns="0" rIns="0" bIns="0" rtlCol="0" anchor="ctr"/>
          <a:lstStyle/>
          <a:p>
            <a:pPr marL="0" indent="0">
              <a:buNone/>
            </a:pPr>
            <a:r>
              <a:rPr lang="en-US" sz="1100" i="1" dirty="0">
                <a:solidFill>
                  <a:schemeClr val="tx2"/>
                </a:solidFill>
              </a:rPr>
              <a:t>Certificado en PDF con firma del presidente, sello digital y enlace de verificación.</a:t>
            </a:r>
            <a:endParaRPr lang="en-US" sz="1100" dirty="0"/>
          </a:p>
        </p:txBody>
      </p:sp>
      <p:sp>
        <p:nvSpPr>
          <p:cNvPr id="29" name="Text 25"/>
          <p:cNvSpPr txBox="1"/>
          <p:nvPr/>
        </p:nvSpPr>
        <p:spPr>
          <a:xfrm>
            <a:off x="6217920" y="5871688"/>
            <a:ext cx="5303520" cy="365760"/>
          </a:xfrm>
          <a:prstGeom prst="rect">
            <a:avLst/>
          </a:prstGeom>
          <a:noFill/>
          <a:ln/>
        </p:spPr>
        <p:txBody>
          <a:bodyPr wrap="square" lIns="0" tIns="0" rIns="0" bIns="0" rtlCol="0" anchor="ctr"/>
          <a:lstStyle/>
          <a:p>
            <a:pPr marL="0" indent="0">
              <a:buNone/>
            </a:pPr>
            <a:r>
              <a:rPr lang="en-US" sz="1100" i="1" dirty="0">
                <a:solidFill>
                  <a:schemeClr val="tx2"/>
                </a:solidFill>
              </a:rPr>
              <a:t>Página pública que confirma que el certificado es auténtico.</a:t>
            </a:r>
            <a:endParaRPr lang="en-US" sz="1100" dirty="0"/>
          </a:p>
        </p:txBody>
      </p:sp>
      <p:sp>
        <p:nvSpPr>
          <p:cNvPr id="30"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EVIDENCIAS</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El sistema funcionando en computador y celular</a:t>
            </a:r>
            <a:endParaRPr lang="en-US" sz="3000" dirty="0"/>
          </a:p>
        </p:txBody>
      </p:sp>
      <p:sp>
        <p:nvSpPr>
          <p:cNvPr id="4" name="Shape 2"/>
          <p:cNvSpPr/>
          <p:nvPr/>
        </p:nvSpPr>
        <p:spPr>
          <a:xfrm>
            <a:off x="603504" y="1655064"/>
            <a:ext cx="3913632" cy="1958333"/>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5" name="Image 0" descr="/tmp/claude-0/-home-claude/4e4a74b1-2813-5a2f-9dff-90fa629fd6e3/scratchpad/deck/shots/dir.png"/>
          <p:cNvPicPr>
            <a:picLocks noChangeAspect="1"/>
          </p:cNvPicPr>
          <p:nvPr/>
        </p:nvPicPr>
        <p:blipFill>
          <a:blip r:embed="rId3"/>
          <a:stretch>
            <a:fillRect/>
          </a:stretch>
        </p:blipFill>
        <p:spPr>
          <a:xfrm>
            <a:off x="640080" y="1691640"/>
            <a:ext cx="3840480" cy="1885181"/>
          </a:xfrm>
          <a:prstGeom prst="rect">
            <a:avLst/>
          </a:prstGeom>
        </p:spPr>
      </p:pic>
      <p:sp>
        <p:nvSpPr>
          <p:cNvPr id="6" name="Text 3"/>
          <p:cNvSpPr txBox="1"/>
          <p:nvPr/>
        </p:nvSpPr>
        <p:spPr>
          <a:xfrm>
            <a:off x="640080" y="3649973"/>
            <a:ext cx="3840480" cy="274320"/>
          </a:xfrm>
          <a:prstGeom prst="rect">
            <a:avLst/>
          </a:prstGeom>
          <a:noFill/>
          <a:ln/>
        </p:spPr>
        <p:txBody>
          <a:bodyPr wrap="square" lIns="0" tIns="0" rIns="0" bIns="0" rtlCol="0" anchor="ctr"/>
          <a:lstStyle/>
          <a:p>
            <a:pPr marL="0" indent="0">
              <a:buNone/>
            </a:pPr>
            <a:r>
              <a:rPr lang="en-US" sz="1100" i="1" dirty="0">
                <a:solidFill>
                  <a:schemeClr val="tx2"/>
                </a:solidFill>
              </a:rPr>
              <a:t>Panel del directorio con lo pendiente por revisar</a:t>
            </a:r>
            <a:endParaRPr lang="en-US" sz="1100" dirty="0"/>
          </a:p>
        </p:txBody>
      </p:sp>
      <p:sp>
        <p:nvSpPr>
          <p:cNvPr id="7" name="Shape 4"/>
          <p:cNvSpPr/>
          <p:nvPr/>
        </p:nvSpPr>
        <p:spPr>
          <a:xfrm>
            <a:off x="603504" y="3997445"/>
            <a:ext cx="3913632" cy="1958333"/>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8" name="Image 1" descr="/tmp/claude-0/-home-claude/4e4a74b1-2813-5a2f-9dff-90fa629fd6e3/scratchpad/deck/shots/choque.png"/>
          <p:cNvPicPr>
            <a:picLocks noChangeAspect="1"/>
          </p:cNvPicPr>
          <p:nvPr/>
        </p:nvPicPr>
        <p:blipFill>
          <a:blip r:embed="rId4"/>
          <a:stretch>
            <a:fillRect/>
          </a:stretch>
        </p:blipFill>
        <p:spPr>
          <a:xfrm>
            <a:off x="640080" y="4034021"/>
            <a:ext cx="3840480" cy="1885181"/>
          </a:xfrm>
          <a:prstGeom prst="rect">
            <a:avLst/>
          </a:prstGeom>
        </p:spPr>
      </p:pic>
      <p:sp>
        <p:nvSpPr>
          <p:cNvPr id="9" name="Text 5"/>
          <p:cNvSpPr txBox="1"/>
          <p:nvPr/>
        </p:nvSpPr>
        <p:spPr>
          <a:xfrm>
            <a:off x="640080" y="5992354"/>
            <a:ext cx="3840480" cy="274320"/>
          </a:xfrm>
          <a:prstGeom prst="rect">
            <a:avLst/>
          </a:prstGeom>
          <a:noFill/>
          <a:ln/>
        </p:spPr>
        <p:txBody>
          <a:bodyPr wrap="square" lIns="0" tIns="0" rIns="0" bIns="0" rtlCol="0" anchor="ctr"/>
          <a:lstStyle/>
          <a:p>
            <a:pPr marL="0" indent="0">
              <a:buNone/>
            </a:pPr>
            <a:r>
              <a:rPr lang="en-US" sz="1100" i="1" dirty="0">
                <a:solidFill>
                  <a:schemeClr val="tx2"/>
                </a:solidFill>
              </a:rPr>
              <a:t>Aviso cuando una reserva choca con otra aprobada</a:t>
            </a:r>
            <a:endParaRPr lang="en-US" sz="1100" dirty="0"/>
          </a:p>
        </p:txBody>
      </p:sp>
      <p:sp>
        <p:nvSpPr>
          <p:cNvPr id="10" name="Shape 6"/>
          <p:cNvSpPr/>
          <p:nvPr/>
        </p:nvSpPr>
        <p:spPr>
          <a:xfrm>
            <a:off x="4718304" y="1655064"/>
            <a:ext cx="3913632" cy="1958333"/>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11" name="Image 2" descr="/tmp/claude-0/-home-claude/4e4a74b1-2813-5a2f-9dff-90fa629fd6e3/scratchpad/deck/shots/vec.png"/>
          <p:cNvPicPr>
            <a:picLocks noChangeAspect="1"/>
          </p:cNvPicPr>
          <p:nvPr/>
        </p:nvPicPr>
        <p:blipFill>
          <a:blip r:embed="rId5"/>
          <a:stretch>
            <a:fillRect/>
          </a:stretch>
        </p:blipFill>
        <p:spPr>
          <a:xfrm>
            <a:off x="4754880" y="1691640"/>
            <a:ext cx="3840480" cy="1885181"/>
          </a:xfrm>
          <a:prstGeom prst="rect">
            <a:avLst/>
          </a:prstGeom>
        </p:spPr>
      </p:pic>
      <p:sp>
        <p:nvSpPr>
          <p:cNvPr id="12" name="Text 7"/>
          <p:cNvSpPr txBox="1"/>
          <p:nvPr/>
        </p:nvSpPr>
        <p:spPr>
          <a:xfrm>
            <a:off x="4754880" y="3649973"/>
            <a:ext cx="3840480" cy="274320"/>
          </a:xfrm>
          <a:prstGeom prst="rect">
            <a:avLst/>
          </a:prstGeom>
          <a:noFill/>
          <a:ln/>
        </p:spPr>
        <p:txBody>
          <a:bodyPr wrap="square" lIns="0" tIns="0" rIns="0" bIns="0" rtlCol="0" anchor="ctr"/>
          <a:lstStyle/>
          <a:p>
            <a:pPr marL="0" indent="0">
              <a:buNone/>
            </a:pPr>
            <a:r>
              <a:rPr lang="en-US" sz="1100" i="1" dirty="0">
                <a:solidFill>
                  <a:schemeClr val="tx2"/>
                </a:solidFill>
              </a:rPr>
              <a:t>Panel del vecino</a:t>
            </a:r>
            <a:endParaRPr lang="en-US" sz="1100" dirty="0"/>
          </a:p>
        </p:txBody>
      </p:sp>
      <p:sp>
        <p:nvSpPr>
          <p:cNvPr id="13" name="Shape 8"/>
          <p:cNvSpPr/>
          <p:nvPr/>
        </p:nvSpPr>
        <p:spPr>
          <a:xfrm>
            <a:off x="4718304" y="3997445"/>
            <a:ext cx="3913632" cy="1948316"/>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14" name="Image 3" descr="/tmp/claude-0/-home-claude/4e4a74b1-2813-5a2f-9dff-90fa629fd6e3/scratchpad/deck/shots/cupos.png"/>
          <p:cNvPicPr>
            <a:picLocks noChangeAspect="1"/>
          </p:cNvPicPr>
          <p:nvPr/>
        </p:nvPicPr>
        <p:blipFill>
          <a:blip r:embed="rId6"/>
          <a:stretch>
            <a:fillRect/>
          </a:stretch>
        </p:blipFill>
        <p:spPr>
          <a:xfrm>
            <a:off x="4754880" y="4034021"/>
            <a:ext cx="3840480" cy="1875164"/>
          </a:xfrm>
          <a:prstGeom prst="rect">
            <a:avLst/>
          </a:prstGeom>
        </p:spPr>
      </p:pic>
      <p:sp>
        <p:nvSpPr>
          <p:cNvPr id="15" name="Text 9"/>
          <p:cNvSpPr txBox="1"/>
          <p:nvPr/>
        </p:nvSpPr>
        <p:spPr>
          <a:xfrm>
            <a:off x="4754880" y="5982337"/>
            <a:ext cx="3840480" cy="274320"/>
          </a:xfrm>
          <a:prstGeom prst="rect">
            <a:avLst/>
          </a:prstGeom>
          <a:noFill/>
          <a:ln/>
        </p:spPr>
        <p:txBody>
          <a:bodyPr wrap="square" lIns="0" tIns="0" rIns="0" bIns="0" rtlCol="0" anchor="ctr"/>
          <a:lstStyle/>
          <a:p>
            <a:pPr marL="0" indent="0">
              <a:buNone/>
            </a:pPr>
            <a:r>
              <a:rPr lang="en-US" sz="1100" i="1" dirty="0">
                <a:solidFill>
                  <a:schemeClr val="tx2"/>
                </a:solidFill>
              </a:rPr>
              <a:t>Actividad vecinal con los cupos llenos</a:t>
            </a:r>
            <a:endParaRPr lang="en-US" sz="1100" dirty="0"/>
          </a:p>
        </p:txBody>
      </p:sp>
      <p:sp>
        <p:nvSpPr>
          <p:cNvPr id="16" name="Shape 10"/>
          <p:cNvSpPr/>
          <p:nvPr/>
        </p:nvSpPr>
        <p:spPr>
          <a:xfrm>
            <a:off x="8878824" y="1655064"/>
            <a:ext cx="1353312" cy="1804623"/>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17" name="Image 4" descr="/tmp/claude-0/-home-claude/4e4a74b1-2813-5a2f-9dff-90fa629fd6e3/scratchpad/deck/shots/movil.png"/>
          <p:cNvPicPr>
            <a:picLocks noChangeAspect="1"/>
          </p:cNvPicPr>
          <p:nvPr/>
        </p:nvPicPr>
        <p:blipFill>
          <a:blip r:embed="rId7"/>
          <a:stretch>
            <a:fillRect/>
          </a:stretch>
        </p:blipFill>
        <p:spPr>
          <a:xfrm>
            <a:off x="8915400" y="1691640"/>
            <a:ext cx="1280160" cy="1731471"/>
          </a:xfrm>
          <a:prstGeom prst="rect">
            <a:avLst/>
          </a:prstGeom>
        </p:spPr>
      </p:pic>
      <p:sp>
        <p:nvSpPr>
          <p:cNvPr id="18" name="Shape 11"/>
          <p:cNvSpPr/>
          <p:nvPr/>
        </p:nvSpPr>
        <p:spPr>
          <a:xfrm>
            <a:off x="10259568" y="1655064"/>
            <a:ext cx="1298448" cy="1804347"/>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19" name="Image 5" descr="/tmp/claude-0/-home-claude/4e4a74b1-2813-5a2f-9dff-90fa629fd6e3/scratchpad/deck/shots/correo.png"/>
          <p:cNvPicPr>
            <a:picLocks noChangeAspect="1"/>
          </p:cNvPicPr>
          <p:nvPr/>
        </p:nvPicPr>
        <p:blipFill>
          <a:blip r:embed="rId8"/>
          <a:stretch>
            <a:fillRect/>
          </a:stretch>
        </p:blipFill>
        <p:spPr>
          <a:xfrm>
            <a:off x="10296144" y="1691640"/>
            <a:ext cx="1225296" cy="1731195"/>
          </a:xfrm>
          <a:prstGeom prst="rect">
            <a:avLst/>
          </a:prstGeom>
        </p:spPr>
      </p:pic>
      <p:sp>
        <p:nvSpPr>
          <p:cNvPr id="20" name="Text 12"/>
          <p:cNvSpPr txBox="1"/>
          <p:nvPr/>
        </p:nvSpPr>
        <p:spPr>
          <a:xfrm>
            <a:off x="8915400" y="3496263"/>
            <a:ext cx="2606040" cy="274320"/>
          </a:xfrm>
          <a:prstGeom prst="rect">
            <a:avLst/>
          </a:prstGeom>
          <a:noFill/>
          <a:ln/>
        </p:spPr>
        <p:txBody>
          <a:bodyPr wrap="square" lIns="0" tIns="0" rIns="0" bIns="0" rtlCol="0" anchor="ctr"/>
          <a:lstStyle/>
          <a:p>
            <a:pPr marL="0" indent="0">
              <a:buNone/>
            </a:pPr>
            <a:r>
              <a:rPr lang="en-US" sz="1100" i="1" dirty="0">
                <a:solidFill>
                  <a:schemeClr val="tx2"/>
                </a:solidFill>
              </a:rPr>
              <a:t>Celular y correo de aprobación</a:t>
            </a:r>
            <a:endParaRPr lang="en-US" sz="1100" dirty="0"/>
          </a:p>
        </p:txBody>
      </p:sp>
      <p:sp>
        <p:nvSpPr>
          <p:cNvPr id="21" name="Shape 13"/>
          <p:cNvSpPr/>
          <p:nvPr/>
        </p:nvSpPr>
        <p:spPr>
          <a:xfrm>
            <a:off x="8878824" y="3997445"/>
            <a:ext cx="2679192" cy="1352382"/>
          </a:xfrm>
          <a:prstGeom prst="rect">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pic>
        <p:nvPicPr>
          <p:cNvPr id="22" name="Image 6" descr="/tmp/claude-0/-home-claude/4e4a74b1-2813-5a2f-9dff-90fa629fd6e3/scratchpad/deck/shots/directiva.png"/>
          <p:cNvPicPr>
            <a:picLocks noChangeAspect="1"/>
          </p:cNvPicPr>
          <p:nvPr/>
        </p:nvPicPr>
        <p:blipFill>
          <a:blip r:embed="rId9"/>
          <a:stretch>
            <a:fillRect/>
          </a:stretch>
        </p:blipFill>
        <p:spPr>
          <a:xfrm>
            <a:off x="8915400" y="4034021"/>
            <a:ext cx="2606040" cy="1279230"/>
          </a:xfrm>
          <a:prstGeom prst="rect">
            <a:avLst/>
          </a:prstGeom>
        </p:spPr>
      </p:pic>
      <p:sp>
        <p:nvSpPr>
          <p:cNvPr id="23" name="Text 14"/>
          <p:cNvSpPr txBox="1"/>
          <p:nvPr/>
        </p:nvSpPr>
        <p:spPr>
          <a:xfrm>
            <a:off x="8915400" y="5386403"/>
            <a:ext cx="2606040" cy="274320"/>
          </a:xfrm>
          <a:prstGeom prst="rect">
            <a:avLst/>
          </a:prstGeom>
          <a:noFill/>
          <a:ln/>
        </p:spPr>
        <p:txBody>
          <a:bodyPr wrap="square" lIns="0" tIns="0" rIns="0" bIns="0" rtlCol="0" anchor="ctr"/>
          <a:lstStyle/>
          <a:p>
            <a:pPr marL="0" indent="0">
              <a:buNone/>
            </a:pPr>
            <a:r>
              <a:rPr lang="en-US" sz="1100" i="1" dirty="0">
                <a:solidFill>
                  <a:schemeClr val="tx2"/>
                </a:solidFill>
              </a:rPr>
              <a:t>Aviso de directiva incompleta</a:t>
            </a:r>
            <a:endParaRPr lang="en-US" sz="11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EJECUCIÓN</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Estado de cada actividad del plan de trabajo</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7406640" cy="4322064"/>
        </p:xfrm>
        <a:graphic>
          <a:graphicData uri="http://schemas.openxmlformats.org/drawingml/2006/table">
            <a:tbl>
              <a:tblPr/>
              <a:tblGrid>
                <a:gridCol w="4206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29768">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Actividad</a:t>
                      </a:r>
                      <a:endParaRPr lang="en-US" sz="130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2"/>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Responsable</a:t>
                      </a:r>
                      <a:endParaRPr lang="en-US" sz="130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2"/>
                    </a:solidFill>
                  </a:tcPr>
                </a:tc>
                <a:tc>
                  <a:txBody>
                    <a:bodyPr/>
                    <a:lstStyle/>
                    <a:p>
                      <a:pPr marL="0" indent="0" algn="ctr">
                        <a:buNone/>
                      </a:pPr>
                      <a:r>
                        <a:rPr lang="en-US" sz="1300" b="1" dirty="0">
                          <a:solidFill>
                            <a:schemeClr val="bg1"/>
                          </a:solidFill>
                          <a:latin typeface="Calibri" pitchFamily="34" charset="0"/>
                          <a:ea typeface="Calibri" pitchFamily="34" charset="-122"/>
                          <a:cs typeface="Calibri" pitchFamily="34" charset="-120"/>
                        </a:rPr>
                        <a:t>Estado</a:t>
                      </a:r>
                      <a:endParaRPr lang="en-US" sz="130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Levantamiento de requerimientos y modelo de datos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Matías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accent3"/>
                          </a:solidFill>
                          <a:latin typeface="Calibri" pitchFamily="34" charset="0"/>
                          <a:ea typeface="Calibri" pitchFamily="34" charset="-122"/>
                          <a:cs typeface="Calibri" pitchFamily="34" charset="-120"/>
                        </a:rPr>
                        <a:t>Completado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Análisis de implementación real (hosting)</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Ambos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lgn="ctr">
                        <a:buNone/>
                      </a:pPr>
                      <a:r>
                        <a:rPr lang="en-US" sz="1250" b="1" dirty="0">
                          <a:solidFill>
                            <a:schemeClr val="accent1"/>
                          </a:solidFill>
                          <a:latin typeface="Calibri" pitchFamily="34" charset="0"/>
                          <a:ea typeface="Calibri" pitchFamily="34" charset="-122"/>
                          <a:cs typeface="Calibri" pitchFamily="34" charset="-120"/>
                        </a:rPr>
                        <a:t>Ajustada</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Módulo de inscripción de vecinos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Matías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accent3"/>
                          </a:solidFill>
                          <a:latin typeface="Calibri" pitchFamily="34" charset="0"/>
                          <a:ea typeface="Calibri" pitchFamily="34" charset="-122"/>
                          <a:cs typeface="Calibri" pitchFamily="34" charset="-120"/>
                        </a:rPr>
                        <a:t>Completado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Módulo de certificados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Matías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lgn="ctr">
                        <a:buNone/>
                      </a:pPr>
                      <a:r>
                        <a:rPr lang="en-US" sz="1250" b="1" dirty="0">
                          <a:solidFill>
                            <a:schemeClr val="accent3"/>
                          </a:solidFill>
                          <a:latin typeface="Calibri" pitchFamily="34" charset="0"/>
                          <a:ea typeface="Calibri" pitchFamily="34" charset="-122"/>
                          <a:cs typeface="Calibri" pitchFamily="34" charset="-120"/>
                        </a:rPr>
                        <a:t>Completado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Módulo de proyectos vecinales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Daniel</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accent3"/>
                          </a:solidFill>
                          <a:latin typeface="Calibri" pitchFamily="34" charset="0"/>
                          <a:ea typeface="Calibri" pitchFamily="34" charset="-122"/>
                          <a:cs typeface="Calibri" pitchFamily="34" charset="-120"/>
                        </a:rPr>
                        <a:t>Completado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Módulo de noticias, avisos y calendario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Daniel</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lgn="ctr">
                        <a:buNone/>
                      </a:pPr>
                      <a:r>
                        <a:rPr lang="en-US" sz="1250" b="1" dirty="0">
                          <a:solidFill>
                            <a:schemeClr val="accent3"/>
                          </a:solidFill>
                          <a:latin typeface="Calibri" pitchFamily="34" charset="0"/>
                          <a:ea typeface="Calibri" pitchFamily="34" charset="-122"/>
                          <a:cs typeface="Calibri" pitchFamily="34" charset="-120"/>
                        </a:rPr>
                        <a:t>Completado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Integración y mejoras pedidas por el docente</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Ambos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accent3"/>
                          </a:solidFill>
                          <a:latin typeface="Calibri" pitchFamily="34" charset="0"/>
                          <a:ea typeface="Calibri" pitchFamily="34" charset="-122"/>
                          <a:cs typeface="Calibri" pitchFamily="34" charset="-120"/>
                        </a:rPr>
                        <a:t>Completado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Pruebas funcionales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Daniel, con apoyo de Matías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lgn="ctr">
                        <a:buNone/>
                      </a:pPr>
                      <a:r>
                        <a:rPr lang="en-US" sz="1250" b="1" dirty="0">
                          <a:solidFill>
                            <a:schemeClr val="accent4"/>
                          </a:solidFill>
                          <a:latin typeface="Calibri" pitchFamily="34" charset="0"/>
                          <a:ea typeface="Calibri" pitchFamily="34" charset="-122"/>
                          <a:cs typeface="Calibri" pitchFamily="34" charset="-120"/>
                        </a:rPr>
                        <a:t>En curso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429768">
                <a:tc>
                  <a:txBody>
                    <a:bodyPr/>
                    <a:lstStyle/>
                    <a:p>
                      <a:pPr marL="0" indent="0">
                        <a:buNone/>
                      </a:pPr>
                      <a:r>
                        <a:rPr lang="en-US" sz="1250" dirty="0">
                          <a:solidFill>
                            <a:schemeClr val="accent2"/>
                          </a:solidFill>
                          <a:latin typeface="Calibri" pitchFamily="34" charset="0"/>
                          <a:ea typeface="Calibri" pitchFamily="34" charset="-122"/>
                          <a:cs typeface="Calibri" pitchFamily="34" charset="-120"/>
                        </a:rPr>
                        <a:t>Documentación y cierre</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50" dirty="0">
                          <a:solidFill>
                            <a:schemeClr val="tx2"/>
                          </a:solidFill>
                          <a:latin typeface="Calibri" pitchFamily="34" charset="0"/>
                          <a:ea typeface="Calibri" pitchFamily="34" charset="-122"/>
                          <a:cs typeface="Calibri" pitchFamily="34" charset="-120"/>
                        </a:rPr>
                        <a:t>Ambos</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250" b="1" dirty="0">
                          <a:solidFill>
                            <a:schemeClr val="tx2"/>
                          </a:solidFill>
                          <a:latin typeface="Calibri" pitchFamily="34" charset="0"/>
                          <a:ea typeface="Calibri" pitchFamily="34" charset="-122"/>
                          <a:cs typeface="Calibri" pitchFamily="34" charset="-120"/>
                        </a:rPr>
                        <a:t>No iniciado</a:t>
                      </a:r>
                      <a:endParaRPr lang="en-US" sz="1250" dirty="0">
                        <a:latin typeface="Calibri" charset="0"/>
                        <a:ea typeface="Calibri" charset="0"/>
                        <a:cs typeface="Calibri" charset="0"/>
                      </a:endParaRPr>
                    </a:p>
                  </a:txBody>
                  <a:tcPr marL="109728" marR="109728"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5" name="plan-stat-0"/>
          <p:cNvSpPr/>
          <p:nvPr/>
        </p:nvSpPr>
        <p:spPr>
          <a:xfrm>
            <a:off x="8321040" y="1737360"/>
            <a:ext cx="3200400" cy="914400"/>
          </a:xfrm>
          <a:prstGeom prst="roundRect">
            <a:avLst>
              <a:gd name="adj" fmla="val 8000"/>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6" name="Text 3"/>
          <p:cNvSpPr txBox="1"/>
          <p:nvPr/>
        </p:nvSpPr>
        <p:spPr>
          <a:xfrm>
            <a:off x="8503920" y="1737360"/>
            <a:ext cx="731520" cy="91440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6</a:t>
            </a:r>
            <a:endParaRPr lang="en-US" sz="3200" dirty="0"/>
          </a:p>
        </p:txBody>
      </p:sp>
      <p:sp>
        <p:nvSpPr>
          <p:cNvPr id="7" name="Text 4"/>
          <p:cNvSpPr txBox="1"/>
          <p:nvPr/>
        </p:nvSpPr>
        <p:spPr>
          <a:xfrm>
            <a:off x="9235440" y="1737360"/>
            <a:ext cx="2148840" cy="914400"/>
          </a:xfrm>
          <a:prstGeom prst="rect">
            <a:avLst/>
          </a:prstGeom>
          <a:noFill/>
          <a:ln/>
        </p:spPr>
        <p:txBody>
          <a:bodyPr wrap="square" lIns="0" tIns="0" rIns="0" bIns="0" rtlCol="0" anchor="ctr"/>
          <a:lstStyle/>
          <a:p>
            <a:pPr marL="0" indent="0">
              <a:buNone/>
            </a:pPr>
            <a:r>
              <a:rPr lang="en-US" sz="1300" dirty="0">
                <a:solidFill>
                  <a:schemeClr val="accent2"/>
                </a:solidFill>
              </a:rPr>
              <a:t>actividades completadas</a:t>
            </a:r>
            <a:endParaRPr lang="en-US" sz="1300" dirty="0"/>
          </a:p>
        </p:txBody>
      </p:sp>
      <p:sp>
        <p:nvSpPr>
          <p:cNvPr id="8" name="plan-stat-1"/>
          <p:cNvSpPr/>
          <p:nvPr/>
        </p:nvSpPr>
        <p:spPr>
          <a:xfrm>
            <a:off x="8321040" y="2834640"/>
            <a:ext cx="3200400" cy="914400"/>
          </a:xfrm>
          <a:prstGeom prst="roundRect">
            <a:avLst>
              <a:gd name="adj" fmla="val 8000"/>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9" name="Text 6"/>
          <p:cNvSpPr txBox="1"/>
          <p:nvPr/>
        </p:nvSpPr>
        <p:spPr>
          <a:xfrm>
            <a:off x="8503920" y="2834640"/>
            <a:ext cx="731520" cy="91440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10" name="Text 7"/>
          <p:cNvSpPr txBox="1"/>
          <p:nvPr/>
        </p:nvSpPr>
        <p:spPr>
          <a:xfrm>
            <a:off x="9235440" y="2834640"/>
            <a:ext cx="2148840" cy="914400"/>
          </a:xfrm>
          <a:prstGeom prst="rect">
            <a:avLst/>
          </a:prstGeom>
          <a:noFill/>
          <a:ln/>
        </p:spPr>
        <p:txBody>
          <a:bodyPr wrap="square" lIns="0" tIns="0" rIns="0" bIns="0" rtlCol="0" anchor="ctr"/>
          <a:lstStyle/>
          <a:p>
            <a:pPr marL="0" indent="0">
              <a:buNone/>
            </a:pPr>
            <a:r>
              <a:rPr lang="en-US" sz="1300" dirty="0">
                <a:solidFill>
                  <a:schemeClr val="accent2"/>
                </a:solidFill>
              </a:rPr>
              <a:t>ajustada con el docente</a:t>
            </a:r>
            <a:endParaRPr lang="en-US" sz="1300" dirty="0"/>
          </a:p>
        </p:txBody>
      </p:sp>
      <p:sp>
        <p:nvSpPr>
          <p:cNvPr id="4" name="plan-stat-2"/>
          <p:cNvSpPr/>
          <p:nvPr/>
        </p:nvSpPr>
        <p:spPr>
          <a:xfrm>
            <a:off x="8321040" y="3931920"/>
            <a:ext cx="3200400" cy="914400"/>
          </a:xfrm>
          <a:prstGeom prst="roundRect">
            <a:avLst>
              <a:gd name="adj" fmla="val 8000"/>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2" name="Text 9"/>
          <p:cNvSpPr txBox="1"/>
          <p:nvPr/>
        </p:nvSpPr>
        <p:spPr>
          <a:xfrm>
            <a:off x="8503920" y="3931920"/>
            <a:ext cx="731520" cy="914400"/>
          </a:xfrm>
          <a:prstGeom prst="rect">
            <a:avLst/>
          </a:prstGeom>
          <a:noFill/>
          <a:ln/>
        </p:spPr>
        <p:txBody>
          <a:bodyPr wrap="square" lIns="0" tIns="0" rIns="0" bIns="0" rtlCol="0" anchor="ctr"/>
          <a:lstStyle/>
          <a:p>
            <a:pPr marL="0" indent="0">
              <a:buNone/>
            </a:pPr>
            <a:r>
              <a:rPr lang="en-US" sz="3200" b="1" dirty="0">
                <a:solidFill>
                  <a:schemeClr val="accent4"/>
                </a:solidFill>
                <a:latin typeface="Cambria" pitchFamily="34" charset="0"/>
                <a:ea typeface="Cambria" pitchFamily="34" charset="-122"/>
                <a:cs typeface="Cambria" pitchFamily="34" charset="-120"/>
              </a:rPr>
              <a:t>1</a:t>
            </a:r>
            <a:endParaRPr lang="en-US" sz="3200" dirty="0"/>
          </a:p>
        </p:txBody>
      </p:sp>
      <p:sp>
        <p:nvSpPr>
          <p:cNvPr id="13" name="Text 10"/>
          <p:cNvSpPr txBox="1"/>
          <p:nvPr/>
        </p:nvSpPr>
        <p:spPr>
          <a:xfrm>
            <a:off x="9235440" y="3931920"/>
            <a:ext cx="2148840" cy="914400"/>
          </a:xfrm>
          <a:prstGeom prst="rect">
            <a:avLst/>
          </a:prstGeom>
          <a:noFill/>
          <a:ln/>
        </p:spPr>
        <p:txBody>
          <a:bodyPr wrap="square" lIns="0" tIns="0" rIns="0" bIns="0" rtlCol="0" anchor="ctr"/>
          <a:lstStyle/>
          <a:p>
            <a:pPr marL="0" indent="0">
              <a:buNone/>
            </a:pPr>
            <a:r>
              <a:rPr lang="en-US" sz="1300" dirty="0">
                <a:solidFill>
                  <a:schemeClr val="accent2"/>
                </a:solidFill>
              </a:rPr>
              <a:t>en curso</a:t>
            </a:r>
            <a:endParaRPr lang="en-US" sz="1300" dirty="0"/>
          </a:p>
        </p:txBody>
      </p:sp>
      <p:sp>
        <p:nvSpPr>
          <p:cNvPr id="14" name="plan-stat-3"/>
          <p:cNvSpPr/>
          <p:nvPr/>
        </p:nvSpPr>
        <p:spPr>
          <a:xfrm>
            <a:off x="8321040" y="5029200"/>
            <a:ext cx="3200400" cy="914400"/>
          </a:xfrm>
          <a:prstGeom prst="roundRect">
            <a:avLst>
              <a:gd name="adj" fmla="val 8000"/>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5" name="Text 12"/>
          <p:cNvSpPr txBox="1"/>
          <p:nvPr/>
        </p:nvSpPr>
        <p:spPr>
          <a:xfrm>
            <a:off x="8503920" y="5029200"/>
            <a:ext cx="731520" cy="91440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1</a:t>
            </a:r>
            <a:endParaRPr lang="en-US" sz="3200" dirty="0"/>
          </a:p>
        </p:txBody>
      </p:sp>
      <p:sp>
        <p:nvSpPr>
          <p:cNvPr id="16" name="Text 13"/>
          <p:cNvSpPr txBox="1"/>
          <p:nvPr/>
        </p:nvSpPr>
        <p:spPr>
          <a:xfrm>
            <a:off x="9235440" y="5029200"/>
            <a:ext cx="2148840" cy="914400"/>
          </a:xfrm>
          <a:prstGeom prst="rect">
            <a:avLst/>
          </a:prstGeom>
          <a:noFill/>
          <a:ln/>
        </p:spPr>
        <p:txBody>
          <a:bodyPr wrap="square" lIns="0" tIns="0" rIns="0" bIns="0" rtlCol="0" anchor="ctr"/>
          <a:lstStyle/>
          <a:p>
            <a:pPr marL="0" indent="0">
              <a:buNone/>
            </a:pPr>
            <a:r>
              <a:rPr lang="en-US" sz="1300" dirty="0">
                <a:solidFill>
                  <a:schemeClr val="accent2"/>
                </a:solidFill>
              </a:rPr>
              <a:t>por iniciar, según lo planificado</a:t>
            </a:r>
            <a:endParaRPr lang="en-US" sz="1300" dirty="0"/>
          </a:p>
        </p:txBody>
      </p:sp>
      <p:sp>
        <p:nvSpPr>
          <p:cNvPr id="17" name="Text 14"/>
          <p:cNvSpPr txBox="1"/>
          <p:nvPr/>
        </p:nvSpPr>
        <p:spPr>
          <a:xfrm>
            <a:off x="8321040" y="6035040"/>
            <a:ext cx="3200400" cy="365760"/>
          </a:xfrm>
          <a:prstGeom prst="rect">
            <a:avLst/>
          </a:prstGeom>
          <a:noFill/>
          <a:ln/>
        </p:spPr>
        <p:txBody>
          <a:bodyPr wrap="square" lIns="0" tIns="0" rIns="0" bIns="0" rtlCol="0" anchor="ctr"/>
          <a:lstStyle/>
          <a:p>
            <a:pPr marL="0" indent="0">
              <a:buNone/>
            </a:pPr>
            <a:r>
              <a:rPr lang="en-US" sz="1100" i="1" dirty="0">
                <a:solidFill>
                  <a:schemeClr val="tx2"/>
                </a:solidFill>
              </a:rPr>
              <a:t>El desarrollo terminó antes de lo que marcaba la Carta Gantt, lo que nos dio tiempo para las mejoras sin apuros.</a:t>
            </a:r>
            <a:endParaRPr lang="en-US" sz="11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DIFICULTADES</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Lo que nos frenó y cómo lo resolvimos</a:t>
            </a:r>
            <a:endParaRPr lang="en-US" sz="3000" dirty="0"/>
          </a:p>
        </p:txBody>
      </p:sp>
      <p:sp>
        <p:nvSpPr>
          <p:cNvPr id="4" name="Text 2"/>
          <p:cNvSpPr txBox="1"/>
          <p:nvPr/>
        </p:nvSpPr>
        <p:spPr>
          <a:xfrm>
            <a:off x="1417320" y="1645920"/>
            <a:ext cx="4572000" cy="320040"/>
          </a:xfrm>
          <a:prstGeom prst="rect">
            <a:avLst/>
          </a:prstGeom>
          <a:noFill/>
          <a:ln/>
        </p:spPr>
        <p:txBody>
          <a:bodyPr wrap="square" lIns="0" tIns="0" rIns="0" bIns="0" rtlCol="0" anchor="ctr"/>
          <a:lstStyle/>
          <a:p>
            <a:pPr marL="0" indent="0">
              <a:buNone/>
            </a:pPr>
            <a:r>
              <a:rPr lang="en-US" sz="1300" b="1" dirty="0">
                <a:solidFill>
                  <a:schemeClr val="tx2"/>
                </a:solidFill>
              </a:rPr>
              <a:t>Problema</a:t>
            </a:r>
            <a:endParaRPr lang="en-US" sz="1300" dirty="0"/>
          </a:p>
        </p:txBody>
      </p:sp>
      <p:sp>
        <p:nvSpPr>
          <p:cNvPr id="5" name="Text 3"/>
          <p:cNvSpPr txBox="1"/>
          <p:nvPr/>
        </p:nvSpPr>
        <p:spPr>
          <a:xfrm>
            <a:off x="6903720" y="1645920"/>
            <a:ext cx="4572000" cy="320040"/>
          </a:xfrm>
          <a:prstGeom prst="rect">
            <a:avLst/>
          </a:prstGeom>
          <a:noFill/>
          <a:ln/>
        </p:spPr>
        <p:txBody>
          <a:bodyPr wrap="square" lIns="0" tIns="0" rIns="0" bIns="0" rtlCol="0" anchor="ctr"/>
          <a:lstStyle/>
          <a:p>
            <a:pPr marL="0" indent="0">
              <a:buNone/>
            </a:pPr>
            <a:r>
              <a:rPr lang="en-US" sz="1300" b="1" dirty="0">
                <a:solidFill>
                  <a:schemeClr val="accent1"/>
                </a:solidFill>
              </a:rPr>
              <a:t>Cómo lo resolvimos</a:t>
            </a:r>
            <a:endParaRPr lang="en-US" sz="1300" dirty="0"/>
          </a:p>
        </p:txBody>
      </p:sp>
      <p:sp>
        <p:nvSpPr>
          <p:cNvPr id="6" name="dif-0"/>
          <p:cNvSpPr/>
          <p:nvPr/>
        </p:nvSpPr>
        <p:spPr>
          <a:xfrm>
            <a:off x="640080" y="2011680"/>
            <a:ext cx="10881360" cy="713232"/>
          </a:xfrm>
          <a:prstGeom prst="roundRect">
            <a:avLst>
              <a:gd name="adj" fmla="val 1025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7" name="Shape 5"/>
          <p:cNvSpPr/>
          <p:nvPr/>
        </p:nvSpPr>
        <p:spPr>
          <a:xfrm>
            <a:off x="777240" y="2139696"/>
            <a:ext cx="457200" cy="457200"/>
          </a:xfrm>
          <a:prstGeom prst="ellipse">
            <a:avLst/>
          </a:prstGeom>
          <a:solidFill>
            <a:schemeClr val="accent2"/>
          </a:solidFill>
          <a:ln w="12700">
            <a:solidFill>
              <a:schemeClr val="accent2"/>
            </a:solidFill>
            <a:prstDash val="solid"/>
          </a:ln>
        </p:spPr>
        <p:txBody>
          <a:bodyPr/>
          <a:lstStyle/>
          <a:p>
            <a:endParaRPr lang="es-CL"/>
          </a:p>
        </p:txBody>
      </p:sp>
      <p:pic>
        <p:nvPicPr>
          <p:cNvPr id="8" name="Image 0" descr="preencoded.png"/>
          <p:cNvPicPr>
            <a:picLocks noChangeAspect="1"/>
          </p:cNvPicPr>
          <p:nvPr/>
        </p:nvPicPr>
        <p:blipFill>
          <a:blip r:embed="rId3"/>
          <a:stretch>
            <a:fillRect/>
          </a:stretch>
        </p:blipFill>
        <p:spPr>
          <a:xfrm>
            <a:off x="891540" y="2253996"/>
            <a:ext cx="228600" cy="228600"/>
          </a:xfrm>
          <a:prstGeom prst="rect">
            <a:avLst/>
          </a:prstGeom>
        </p:spPr>
      </p:pic>
      <p:sp>
        <p:nvSpPr>
          <p:cNvPr id="9" name="Text 6"/>
          <p:cNvSpPr txBox="1"/>
          <p:nvPr/>
        </p:nvSpPr>
        <p:spPr>
          <a:xfrm>
            <a:off x="1417320" y="2011680"/>
            <a:ext cx="4937760" cy="713232"/>
          </a:xfrm>
          <a:prstGeom prst="rect">
            <a:avLst/>
          </a:prstGeom>
          <a:noFill/>
          <a:ln/>
        </p:spPr>
        <p:txBody>
          <a:bodyPr wrap="square" lIns="0" tIns="0" rIns="0" bIns="0" rtlCol="0" anchor="ctr"/>
          <a:lstStyle/>
          <a:p>
            <a:pPr marL="0" indent="0">
              <a:buNone/>
            </a:pPr>
            <a:r>
              <a:rPr lang="en-US" sz="1350" dirty="0">
                <a:solidFill>
                  <a:schemeClr val="accent2"/>
                </a:solidFill>
              </a:rPr>
              <a:t>Google desactivó la primera cuenta de Gmail</a:t>
            </a:r>
            <a:endParaRPr lang="en-US" sz="1350" dirty="0"/>
          </a:p>
        </p:txBody>
      </p:sp>
      <p:sp>
        <p:nvSpPr>
          <p:cNvPr id="10" name="Shape 7"/>
          <p:cNvSpPr/>
          <p:nvPr/>
        </p:nvSpPr>
        <p:spPr>
          <a:xfrm>
            <a:off x="6400800" y="2231136"/>
            <a:ext cx="365760" cy="274320"/>
          </a:xfrm>
          <a:prstGeom prst="rightArrow">
            <a:avLst/>
          </a:prstGeom>
          <a:solidFill>
            <a:schemeClr val="accent1"/>
          </a:solidFill>
          <a:ln w="12700">
            <a:solidFill>
              <a:schemeClr val="accent1"/>
            </a:solidFill>
            <a:prstDash val="solid"/>
          </a:ln>
        </p:spPr>
        <p:txBody>
          <a:bodyPr/>
          <a:lstStyle/>
          <a:p>
            <a:endParaRPr lang="es-CL"/>
          </a:p>
        </p:txBody>
      </p:sp>
      <p:sp>
        <p:nvSpPr>
          <p:cNvPr id="11" name="Text 8"/>
          <p:cNvSpPr txBox="1"/>
          <p:nvPr/>
        </p:nvSpPr>
        <p:spPr>
          <a:xfrm>
            <a:off x="6903720" y="2011680"/>
            <a:ext cx="4480560" cy="713232"/>
          </a:xfrm>
          <a:prstGeom prst="rect">
            <a:avLst/>
          </a:prstGeom>
          <a:noFill/>
          <a:ln/>
        </p:spPr>
        <p:txBody>
          <a:bodyPr wrap="square" lIns="0" tIns="0" rIns="0" bIns="0" rtlCol="0" anchor="ctr"/>
          <a:lstStyle/>
          <a:p>
            <a:pPr marL="0" indent="0">
              <a:buNone/>
            </a:pPr>
            <a:r>
              <a:rPr lang="en-US" sz="1350" b="1" dirty="0">
                <a:solidFill>
                  <a:schemeClr val="accent2"/>
                </a:solidFill>
              </a:rPr>
              <a:t>Usamos una cuenta más antigua con contraseña de aplicación</a:t>
            </a:r>
            <a:endParaRPr lang="en-US" sz="1350" dirty="0"/>
          </a:p>
        </p:txBody>
      </p:sp>
      <p:sp>
        <p:nvSpPr>
          <p:cNvPr id="12" name="dif-1"/>
          <p:cNvSpPr/>
          <p:nvPr/>
        </p:nvSpPr>
        <p:spPr>
          <a:xfrm>
            <a:off x="640080" y="2862072"/>
            <a:ext cx="10881360" cy="713232"/>
          </a:xfrm>
          <a:prstGeom prst="roundRect">
            <a:avLst>
              <a:gd name="adj" fmla="val 1025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3" name="Shape 10"/>
          <p:cNvSpPr/>
          <p:nvPr/>
        </p:nvSpPr>
        <p:spPr>
          <a:xfrm>
            <a:off x="777240" y="2990088"/>
            <a:ext cx="457200" cy="457200"/>
          </a:xfrm>
          <a:prstGeom prst="ellipse">
            <a:avLst/>
          </a:prstGeom>
          <a:solidFill>
            <a:schemeClr val="accent2"/>
          </a:solidFill>
          <a:ln w="12700">
            <a:solidFill>
              <a:schemeClr val="accent2"/>
            </a:solidFill>
            <a:prstDash val="solid"/>
          </a:ln>
        </p:spPr>
        <p:txBody>
          <a:bodyPr/>
          <a:lstStyle/>
          <a:p>
            <a:endParaRPr lang="es-CL"/>
          </a:p>
        </p:txBody>
      </p:sp>
      <p:pic>
        <p:nvPicPr>
          <p:cNvPr id="14" name="Image 1" descr="preencoded.png"/>
          <p:cNvPicPr>
            <a:picLocks noChangeAspect="1"/>
          </p:cNvPicPr>
          <p:nvPr/>
        </p:nvPicPr>
        <p:blipFill>
          <a:blip r:embed="rId4"/>
          <a:stretch>
            <a:fillRect/>
          </a:stretch>
        </p:blipFill>
        <p:spPr>
          <a:xfrm>
            <a:off x="891540" y="3104388"/>
            <a:ext cx="228600" cy="228600"/>
          </a:xfrm>
          <a:prstGeom prst="rect">
            <a:avLst/>
          </a:prstGeom>
        </p:spPr>
      </p:pic>
      <p:sp>
        <p:nvSpPr>
          <p:cNvPr id="15" name="Text 11"/>
          <p:cNvSpPr txBox="1"/>
          <p:nvPr/>
        </p:nvSpPr>
        <p:spPr>
          <a:xfrm>
            <a:off x="1417320" y="2862072"/>
            <a:ext cx="4937760" cy="713232"/>
          </a:xfrm>
          <a:prstGeom prst="rect">
            <a:avLst/>
          </a:prstGeom>
          <a:noFill/>
          <a:ln/>
        </p:spPr>
        <p:txBody>
          <a:bodyPr wrap="square" lIns="0" tIns="0" rIns="0" bIns="0" rtlCol="0" anchor="ctr"/>
          <a:lstStyle/>
          <a:p>
            <a:pPr marL="0" indent="0">
              <a:buNone/>
            </a:pPr>
            <a:r>
              <a:rPr lang="en-US" sz="1350" dirty="0">
                <a:solidFill>
                  <a:schemeClr val="accent2"/>
                </a:solidFill>
              </a:rPr>
              <a:t>El antivirus bloqueaba la conexión con el servidor de correo</a:t>
            </a:r>
            <a:endParaRPr lang="en-US" sz="1350" dirty="0"/>
          </a:p>
        </p:txBody>
      </p:sp>
      <p:sp>
        <p:nvSpPr>
          <p:cNvPr id="16" name="Shape 12"/>
          <p:cNvSpPr/>
          <p:nvPr/>
        </p:nvSpPr>
        <p:spPr>
          <a:xfrm>
            <a:off x="6400800" y="3081528"/>
            <a:ext cx="365760" cy="274320"/>
          </a:xfrm>
          <a:prstGeom prst="rightArrow">
            <a:avLst/>
          </a:prstGeom>
          <a:solidFill>
            <a:schemeClr val="accent1"/>
          </a:solidFill>
          <a:ln w="12700">
            <a:solidFill>
              <a:schemeClr val="accent1"/>
            </a:solidFill>
            <a:prstDash val="solid"/>
          </a:ln>
        </p:spPr>
        <p:txBody>
          <a:bodyPr/>
          <a:lstStyle/>
          <a:p>
            <a:endParaRPr lang="es-CL"/>
          </a:p>
        </p:txBody>
      </p:sp>
      <p:sp>
        <p:nvSpPr>
          <p:cNvPr id="17" name="Text 13"/>
          <p:cNvSpPr txBox="1"/>
          <p:nvPr/>
        </p:nvSpPr>
        <p:spPr>
          <a:xfrm>
            <a:off x="6903720" y="2862072"/>
            <a:ext cx="4480560" cy="713232"/>
          </a:xfrm>
          <a:prstGeom prst="rect">
            <a:avLst/>
          </a:prstGeom>
          <a:noFill/>
          <a:ln/>
        </p:spPr>
        <p:txBody>
          <a:bodyPr wrap="square" lIns="0" tIns="0" rIns="0" bIns="0" rtlCol="0" anchor="ctr"/>
          <a:lstStyle/>
          <a:p>
            <a:pPr marL="0" indent="0">
              <a:buNone/>
            </a:pPr>
            <a:r>
              <a:rPr lang="en-US" sz="1350" b="1" dirty="0">
                <a:solidFill>
                  <a:schemeClr val="accent2"/>
                </a:solidFill>
              </a:rPr>
              <a:t>Ajustamos la configuración de PHPMailer para el entorno local</a:t>
            </a:r>
            <a:endParaRPr lang="en-US" sz="1350" dirty="0"/>
          </a:p>
        </p:txBody>
      </p:sp>
      <p:sp>
        <p:nvSpPr>
          <p:cNvPr id="18" name="dif-2"/>
          <p:cNvSpPr/>
          <p:nvPr/>
        </p:nvSpPr>
        <p:spPr>
          <a:xfrm>
            <a:off x="640080" y="3712464"/>
            <a:ext cx="10881360" cy="713232"/>
          </a:xfrm>
          <a:prstGeom prst="roundRect">
            <a:avLst>
              <a:gd name="adj" fmla="val 1025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9" name="Shape 15"/>
          <p:cNvSpPr/>
          <p:nvPr/>
        </p:nvSpPr>
        <p:spPr>
          <a:xfrm>
            <a:off x="777240" y="3840480"/>
            <a:ext cx="457200" cy="457200"/>
          </a:xfrm>
          <a:prstGeom prst="ellipse">
            <a:avLst/>
          </a:prstGeom>
          <a:solidFill>
            <a:schemeClr val="accent2"/>
          </a:solidFill>
          <a:ln w="12700">
            <a:solidFill>
              <a:schemeClr val="accent2"/>
            </a:solidFill>
            <a:prstDash val="solid"/>
          </a:ln>
        </p:spPr>
        <p:txBody>
          <a:bodyPr/>
          <a:lstStyle/>
          <a:p>
            <a:endParaRPr lang="es-CL"/>
          </a:p>
        </p:txBody>
      </p:sp>
      <p:pic>
        <p:nvPicPr>
          <p:cNvPr id="20" name="Image 2" descr="preencoded.png"/>
          <p:cNvPicPr>
            <a:picLocks noChangeAspect="1"/>
          </p:cNvPicPr>
          <p:nvPr/>
        </p:nvPicPr>
        <p:blipFill>
          <a:blip r:embed="rId5"/>
          <a:stretch>
            <a:fillRect/>
          </a:stretch>
        </p:blipFill>
        <p:spPr>
          <a:xfrm>
            <a:off x="891540" y="3954780"/>
            <a:ext cx="228600" cy="228600"/>
          </a:xfrm>
          <a:prstGeom prst="rect">
            <a:avLst/>
          </a:prstGeom>
        </p:spPr>
      </p:pic>
      <p:sp>
        <p:nvSpPr>
          <p:cNvPr id="21" name="Text 16"/>
          <p:cNvSpPr txBox="1"/>
          <p:nvPr/>
        </p:nvSpPr>
        <p:spPr>
          <a:xfrm>
            <a:off x="1417320" y="3712464"/>
            <a:ext cx="4937760" cy="713232"/>
          </a:xfrm>
          <a:prstGeom prst="rect">
            <a:avLst/>
          </a:prstGeom>
          <a:noFill/>
          <a:ln/>
        </p:spPr>
        <p:txBody>
          <a:bodyPr wrap="square" lIns="0" tIns="0" rIns="0" bIns="0" rtlCol="0" anchor="ctr"/>
          <a:lstStyle/>
          <a:p>
            <a:pPr marL="0" indent="0">
              <a:buNone/>
            </a:pPr>
            <a:r>
              <a:rPr lang="en-US" sz="1350" dirty="0">
                <a:solidFill>
                  <a:schemeClr val="accent2"/>
                </a:solidFill>
              </a:rPr>
              <a:t>MySQL dejó de funcionar y tuvimos que reinstalar XAMPP</a:t>
            </a:r>
            <a:endParaRPr lang="en-US" sz="1350" dirty="0"/>
          </a:p>
        </p:txBody>
      </p:sp>
      <p:sp>
        <p:nvSpPr>
          <p:cNvPr id="22" name="Shape 17"/>
          <p:cNvSpPr/>
          <p:nvPr/>
        </p:nvSpPr>
        <p:spPr>
          <a:xfrm>
            <a:off x="6400800" y="3931920"/>
            <a:ext cx="365760" cy="274320"/>
          </a:xfrm>
          <a:prstGeom prst="rightArrow">
            <a:avLst/>
          </a:prstGeom>
          <a:solidFill>
            <a:schemeClr val="accent1"/>
          </a:solidFill>
          <a:ln w="12700">
            <a:solidFill>
              <a:schemeClr val="accent1"/>
            </a:solidFill>
            <a:prstDash val="solid"/>
          </a:ln>
        </p:spPr>
        <p:txBody>
          <a:bodyPr/>
          <a:lstStyle/>
          <a:p>
            <a:endParaRPr lang="es-CL"/>
          </a:p>
        </p:txBody>
      </p:sp>
      <p:sp>
        <p:nvSpPr>
          <p:cNvPr id="23" name="Text 18"/>
          <p:cNvSpPr txBox="1"/>
          <p:nvPr/>
        </p:nvSpPr>
        <p:spPr>
          <a:xfrm>
            <a:off x="6903720" y="3712464"/>
            <a:ext cx="4480560" cy="713232"/>
          </a:xfrm>
          <a:prstGeom prst="rect">
            <a:avLst/>
          </a:prstGeom>
          <a:noFill/>
          <a:ln/>
        </p:spPr>
        <p:txBody>
          <a:bodyPr wrap="square" lIns="0" tIns="0" rIns="0" bIns="0" rtlCol="0" anchor="ctr"/>
          <a:lstStyle/>
          <a:p>
            <a:pPr marL="0" indent="0">
              <a:buNone/>
            </a:pPr>
            <a:r>
              <a:rPr lang="en-US" sz="1350" b="1" dirty="0">
                <a:solidFill>
                  <a:schemeClr val="accent2"/>
                </a:solidFill>
              </a:rPr>
              <a:t>Respaldamos siempre la carpeta del proyecto y la base exportada en .sql</a:t>
            </a:r>
            <a:endParaRPr lang="en-US" sz="1350" dirty="0"/>
          </a:p>
        </p:txBody>
      </p:sp>
      <p:sp>
        <p:nvSpPr>
          <p:cNvPr id="24" name="dif-3"/>
          <p:cNvSpPr/>
          <p:nvPr/>
        </p:nvSpPr>
        <p:spPr>
          <a:xfrm>
            <a:off x="640080" y="4562856"/>
            <a:ext cx="10881360" cy="713232"/>
          </a:xfrm>
          <a:prstGeom prst="roundRect">
            <a:avLst>
              <a:gd name="adj" fmla="val 1025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5" name="Shape 20"/>
          <p:cNvSpPr/>
          <p:nvPr/>
        </p:nvSpPr>
        <p:spPr>
          <a:xfrm>
            <a:off x="777240" y="4690872"/>
            <a:ext cx="457200" cy="457200"/>
          </a:xfrm>
          <a:prstGeom prst="ellipse">
            <a:avLst/>
          </a:prstGeom>
          <a:solidFill>
            <a:schemeClr val="accent2"/>
          </a:solidFill>
          <a:ln w="12700">
            <a:solidFill>
              <a:schemeClr val="accent2"/>
            </a:solidFill>
            <a:prstDash val="solid"/>
          </a:ln>
        </p:spPr>
        <p:txBody>
          <a:bodyPr/>
          <a:lstStyle/>
          <a:p>
            <a:endParaRPr lang="es-CL"/>
          </a:p>
        </p:txBody>
      </p:sp>
      <p:pic>
        <p:nvPicPr>
          <p:cNvPr id="26" name="Image 3" descr="preencoded.png"/>
          <p:cNvPicPr>
            <a:picLocks noChangeAspect="1"/>
          </p:cNvPicPr>
          <p:nvPr/>
        </p:nvPicPr>
        <p:blipFill>
          <a:blip r:embed="rId6"/>
          <a:stretch>
            <a:fillRect/>
          </a:stretch>
        </p:blipFill>
        <p:spPr>
          <a:xfrm>
            <a:off x="891540" y="4805172"/>
            <a:ext cx="228600" cy="228600"/>
          </a:xfrm>
          <a:prstGeom prst="rect">
            <a:avLst/>
          </a:prstGeom>
        </p:spPr>
      </p:pic>
      <p:sp>
        <p:nvSpPr>
          <p:cNvPr id="27" name="Text 21"/>
          <p:cNvSpPr txBox="1"/>
          <p:nvPr/>
        </p:nvSpPr>
        <p:spPr>
          <a:xfrm>
            <a:off x="1417320" y="4562856"/>
            <a:ext cx="4937760" cy="713232"/>
          </a:xfrm>
          <a:prstGeom prst="rect">
            <a:avLst/>
          </a:prstGeom>
          <a:noFill/>
          <a:ln/>
        </p:spPr>
        <p:txBody>
          <a:bodyPr wrap="square" lIns="0" tIns="0" rIns="0" bIns="0" rtlCol="0" anchor="ctr"/>
          <a:lstStyle/>
          <a:p>
            <a:pPr marL="0" indent="0">
              <a:buNone/>
            </a:pPr>
            <a:r>
              <a:rPr lang="en-US" sz="1350" dirty="0">
                <a:solidFill>
                  <a:schemeClr val="accent2"/>
                </a:solidFill>
              </a:rPr>
              <a:t>Nombres de archivo con mayúsculas distintas (Windows vs. Linux)</a:t>
            </a:r>
            <a:endParaRPr lang="en-US" sz="1350" dirty="0"/>
          </a:p>
        </p:txBody>
      </p:sp>
      <p:sp>
        <p:nvSpPr>
          <p:cNvPr id="28" name="Shape 22"/>
          <p:cNvSpPr/>
          <p:nvPr/>
        </p:nvSpPr>
        <p:spPr>
          <a:xfrm>
            <a:off x="6400800" y="4782312"/>
            <a:ext cx="365760" cy="274320"/>
          </a:xfrm>
          <a:prstGeom prst="rightArrow">
            <a:avLst/>
          </a:prstGeom>
          <a:solidFill>
            <a:schemeClr val="accent1"/>
          </a:solidFill>
          <a:ln w="12700">
            <a:solidFill>
              <a:schemeClr val="accent1"/>
            </a:solidFill>
            <a:prstDash val="solid"/>
          </a:ln>
        </p:spPr>
        <p:txBody>
          <a:bodyPr/>
          <a:lstStyle/>
          <a:p>
            <a:endParaRPr lang="es-CL"/>
          </a:p>
        </p:txBody>
      </p:sp>
      <p:sp>
        <p:nvSpPr>
          <p:cNvPr id="29" name="Text 23"/>
          <p:cNvSpPr txBox="1"/>
          <p:nvPr/>
        </p:nvSpPr>
        <p:spPr>
          <a:xfrm>
            <a:off x="6903720" y="4562856"/>
            <a:ext cx="4480560" cy="713232"/>
          </a:xfrm>
          <a:prstGeom prst="rect">
            <a:avLst/>
          </a:prstGeom>
          <a:noFill/>
          <a:ln/>
        </p:spPr>
        <p:txBody>
          <a:bodyPr wrap="square" lIns="0" tIns="0" rIns="0" bIns="0" rtlCol="0" anchor="ctr"/>
          <a:lstStyle/>
          <a:p>
            <a:pPr marL="0" indent="0">
              <a:buNone/>
            </a:pPr>
            <a:r>
              <a:rPr lang="en-US" sz="1350" b="1" dirty="0">
                <a:solidFill>
                  <a:schemeClr val="accent2"/>
                </a:solidFill>
              </a:rPr>
              <a:t>Revisamos todos los enlaces para dejarlos iguales</a:t>
            </a:r>
            <a:endParaRPr lang="en-US" sz="1350" dirty="0"/>
          </a:p>
        </p:txBody>
      </p:sp>
      <p:sp>
        <p:nvSpPr>
          <p:cNvPr id="30" name="dif-4"/>
          <p:cNvSpPr/>
          <p:nvPr/>
        </p:nvSpPr>
        <p:spPr>
          <a:xfrm>
            <a:off x="640080" y="5413248"/>
            <a:ext cx="10881360" cy="713232"/>
          </a:xfrm>
          <a:prstGeom prst="roundRect">
            <a:avLst>
              <a:gd name="adj" fmla="val 1025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31" name="Shape 25"/>
          <p:cNvSpPr/>
          <p:nvPr/>
        </p:nvSpPr>
        <p:spPr>
          <a:xfrm>
            <a:off x="777240" y="5541264"/>
            <a:ext cx="457200" cy="457200"/>
          </a:xfrm>
          <a:prstGeom prst="ellipse">
            <a:avLst/>
          </a:prstGeom>
          <a:solidFill>
            <a:schemeClr val="accent2"/>
          </a:solidFill>
          <a:ln w="12700">
            <a:solidFill>
              <a:schemeClr val="accent2"/>
            </a:solidFill>
            <a:prstDash val="solid"/>
          </a:ln>
        </p:spPr>
        <p:txBody>
          <a:bodyPr/>
          <a:lstStyle/>
          <a:p>
            <a:endParaRPr lang="es-CL"/>
          </a:p>
        </p:txBody>
      </p:sp>
      <p:pic>
        <p:nvPicPr>
          <p:cNvPr id="32" name="Image 4" descr="preencoded.png"/>
          <p:cNvPicPr>
            <a:picLocks noChangeAspect="1"/>
          </p:cNvPicPr>
          <p:nvPr/>
        </p:nvPicPr>
        <p:blipFill>
          <a:blip r:embed="rId7"/>
          <a:stretch>
            <a:fillRect/>
          </a:stretch>
        </p:blipFill>
        <p:spPr>
          <a:xfrm>
            <a:off x="891540" y="5655564"/>
            <a:ext cx="228600" cy="228600"/>
          </a:xfrm>
          <a:prstGeom prst="rect">
            <a:avLst/>
          </a:prstGeom>
        </p:spPr>
      </p:pic>
      <p:sp>
        <p:nvSpPr>
          <p:cNvPr id="33" name="Text 26"/>
          <p:cNvSpPr txBox="1"/>
          <p:nvPr/>
        </p:nvSpPr>
        <p:spPr>
          <a:xfrm>
            <a:off x="1417320" y="5413248"/>
            <a:ext cx="4937760" cy="713232"/>
          </a:xfrm>
          <a:prstGeom prst="rect">
            <a:avLst/>
          </a:prstGeom>
          <a:noFill/>
          <a:ln/>
        </p:spPr>
        <p:txBody>
          <a:bodyPr wrap="square" lIns="0" tIns="0" rIns="0" bIns="0" rtlCol="0" anchor="ctr"/>
          <a:lstStyle/>
          <a:p>
            <a:pPr marL="0" indent="0">
              <a:buNone/>
            </a:pPr>
            <a:r>
              <a:rPr lang="en-US" sz="1350" dirty="0">
                <a:solidFill>
                  <a:schemeClr val="accent2"/>
                </a:solidFill>
              </a:rPr>
              <a:t>Los hosting gratuitos bloquean el envío de correos por Gmail</a:t>
            </a:r>
            <a:endParaRPr lang="en-US" sz="1350" dirty="0"/>
          </a:p>
        </p:txBody>
      </p:sp>
      <p:sp>
        <p:nvSpPr>
          <p:cNvPr id="34" name="Shape 27"/>
          <p:cNvSpPr/>
          <p:nvPr/>
        </p:nvSpPr>
        <p:spPr>
          <a:xfrm>
            <a:off x="6400800" y="5632704"/>
            <a:ext cx="365760" cy="274320"/>
          </a:xfrm>
          <a:prstGeom prst="rightArrow">
            <a:avLst/>
          </a:prstGeom>
          <a:solidFill>
            <a:schemeClr val="accent1"/>
          </a:solidFill>
          <a:ln w="12700">
            <a:solidFill>
              <a:schemeClr val="accent1"/>
            </a:solidFill>
            <a:prstDash val="solid"/>
          </a:ln>
        </p:spPr>
        <p:txBody>
          <a:bodyPr/>
          <a:lstStyle/>
          <a:p>
            <a:endParaRPr lang="es-CL"/>
          </a:p>
        </p:txBody>
      </p:sp>
      <p:sp>
        <p:nvSpPr>
          <p:cNvPr id="35" name="Text 28"/>
          <p:cNvSpPr txBox="1"/>
          <p:nvPr/>
        </p:nvSpPr>
        <p:spPr>
          <a:xfrm>
            <a:off x="6903720" y="5413248"/>
            <a:ext cx="4480560" cy="713232"/>
          </a:xfrm>
          <a:prstGeom prst="rect">
            <a:avLst/>
          </a:prstGeom>
          <a:noFill/>
          <a:ln/>
        </p:spPr>
        <p:txBody>
          <a:bodyPr wrap="square" lIns="0" tIns="0" rIns="0" bIns="0" rtlCol="0" anchor="ctr"/>
          <a:lstStyle/>
          <a:p>
            <a:pPr marL="0" indent="0">
              <a:buNone/>
            </a:pPr>
            <a:r>
              <a:rPr lang="en-US" sz="1350" b="1" dirty="0" err="1">
                <a:solidFill>
                  <a:schemeClr val="accent2"/>
                </a:solidFill>
              </a:rPr>
              <a:t>Acordamos</a:t>
            </a:r>
            <a:r>
              <a:rPr lang="en-US" sz="1350" b="1" dirty="0">
                <a:solidFill>
                  <a:schemeClr val="accent2"/>
                </a:solidFill>
              </a:rPr>
              <a:t> </a:t>
            </a:r>
            <a:r>
              <a:rPr lang="en-US" sz="1350" b="1" dirty="0" err="1">
                <a:solidFill>
                  <a:schemeClr val="accent2"/>
                </a:solidFill>
              </a:rPr>
              <a:t>trabajar</a:t>
            </a:r>
            <a:r>
              <a:rPr lang="en-US" sz="1350" b="1" dirty="0">
                <a:solidFill>
                  <a:schemeClr val="accent2"/>
                </a:solidFill>
              </a:rPr>
              <a:t> en XAMPP de </a:t>
            </a:r>
            <a:r>
              <a:rPr lang="en-US" sz="1350" b="1" dirty="0" err="1">
                <a:solidFill>
                  <a:schemeClr val="accent2"/>
                </a:solidFill>
              </a:rPr>
              <a:t>manera</a:t>
            </a:r>
            <a:r>
              <a:rPr lang="en-US" sz="1350" b="1">
                <a:solidFill>
                  <a:schemeClr val="accent2"/>
                </a:solidFill>
              </a:rPr>
              <a:t> local</a:t>
            </a:r>
            <a:endParaRPr lang="en-US" sz="1350" dirty="0"/>
          </a:p>
        </p:txBody>
      </p:sp>
      <p:sp>
        <p:nvSpPr>
          <p:cNvPr id="36"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7315200" cy="320040"/>
          </a:xfrm>
          <a:prstGeom prst="rect">
            <a:avLst/>
          </a:prstGeom>
          <a:noFill/>
          <a:ln/>
        </p:spPr>
        <p:txBody>
          <a:bodyPr wrap="square" lIns="0" tIns="0" rIns="0" bIns="0" rtlCol="0"/>
          <a:lstStyle/>
          <a:p>
            <a:pPr marL="0" indent="0">
              <a:buNone/>
            </a:pPr>
            <a:r>
              <a:rPr lang="en-US" sz="1300" b="1" kern="0" spc="200" dirty="0">
                <a:solidFill>
                  <a:schemeClr val="accent1"/>
                </a:solidFill>
              </a:rPr>
              <a:t>PRÓXIMOS PASOS</a:t>
            </a:r>
            <a:endParaRPr lang="en-US" sz="1300" dirty="0"/>
          </a:p>
        </p:txBody>
      </p:sp>
      <p:sp>
        <p:nvSpPr>
          <p:cNvPr id="3" name="Text 0"/>
          <p:cNvSpPr>
            <a:spLocks noGrp="1"/>
          </p:cNvSpPr>
          <p:nvPr>
            <p:ph type="title" idx="101" hasCustomPrompt="1"/>
          </p:nvPr>
        </p:nvSpPr>
        <p:spPr>
          <a:xfrm>
            <a:off x="640080" y="749808"/>
            <a:ext cx="10881360" cy="731520"/>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Lo que falta para la entrega final</a:t>
            </a:r>
            <a:endParaRPr lang="en-US" sz="3000" dirty="0"/>
          </a:p>
        </p:txBody>
      </p:sp>
      <p:sp>
        <p:nvSpPr>
          <p:cNvPr id="4" name="Shape 2"/>
          <p:cNvSpPr/>
          <p:nvPr/>
        </p:nvSpPr>
        <p:spPr>
          <a:xfrm>
            <a:off x="2354580" y="2148840"/>
            <a:ext cx="7452360" cy="0"/>
          </a:xfrm>
          <a:prstGeom prst="line">
            <a:avLst/>
          </a:prstGeom>
          <a:noFill/>
          <a:ln w="19050">
            <a:solidFill>
              <a:schemeClr val="accent5"/>
            </a:solidFill>
            <a:prstDash val="dash"/>
          </a:ln>
        </p:spPr>
        <p:txBody>
          <a:bodyPr/>
          <a:lstStyle/>
          <a:p>
            <a:endParaRPr lang="es-CL"/>
          </a:p>
        </p:txBody>
      </p:sp>
      <p:sp>
        <p:nvSpPr>
          <p:cNvPr id="5" name="Shape 3"/>
          <p:cNvSpPr/>
          <p:nvPr/>
        </p:nvSpPr>
        <p:spPr>
          <a:xfrm>
            <a:off x="2080260" y="1874520"/>
            <a:ext cx="548640" cy="548640"/>
          </a:xfrm>
          <a:prstGeom prst="ellipse">
            <a:avLst/>
          </a:prstGeom>
          <a:solidFill>
            <a:schemeClr val="accent1"/>
          </a:solidFill>
          <a:ln w="38100">
            <a:solidFill>
              <a:schemeClr val="bg2"/>
            </a:solidFill>
            <a:prstDash val="solid"/>
          </a:ln>
        </p:spPr>
        <p:txBody>
          <a:bodyPr/>
          <a:lstStyle/>
          <a:p>
            <a:endParaRPr lang="es-CL"/>
          </a:p>
        </p:txBody>
      </p:sp>
      <p:sp>
        <p:nvSpPr>
          <p:cNvPr id="6" name="Text 4"/>
          <p:cNvSpPr txBox="1"/>
          <p:nvPr/>
        </p:nvSpPr>
        <p:spPr>
          <a:xfrm>
            <a:off x="2080260" y="18745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paso-final-0"/>
          <p:cNvSpPr/>
          <p:nvPr/>
        </p:nvSpPr>
        <p:spPr>
          <a:xfrm>
            <a:off x="640080" y="2697480"/>
            <a:ext cx="342900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8" name="Shape 6"/>
          <p:cNvSpPr/>
          <p:nvPr/>
        </p:nvSpPr>
        <p:spPr>
          <a:xfrm>
            <a:off x="914400" y="2926080"/>
            <a:ext cx="502920" cy="502920"/>
          </a:xfrm>
          <a:prstGeom prst="ellipse">
            <a:avLst/>
          </a:prstGeom>
          <a:solidFill>
            <a:schemeClr val="accent2"/>
          </a:solidFill>
          <a:ln w="12700">
            <a:solidFill>
              <a:schemeClr val="accent2"/>
            </a:solidFill>
            <a:prstDash val="solid"/>
          </a:ln>
        </p:spPr>
        <p:txBody>
          <a:bodyPr/>
          <a:lstStyle/>
          <a:p>
            <a:endParaRPr lang="es-CL"/>
          </a:p>
        </p:txBody>
      </p:sp>
      <p:pic>
        <p:nvPicPr>
          <p:cNvPr id="9" name="Image 0" descr="preencoded.png"/>
          <p:cNvPicPr>
            <a:picLocks noChangeAspect="1"/>
          </p:cNvPicPr>
          <p:nvPr/>
        </p:nvPicPr>
        <p:blipFill>
          <a:blip r:embed="rId3"/>
          <a:stretch>
            <a:fillRect/>
          </a:stretch>
        </p:blipFill>
        <p:spPr>
          <a:xfrm>
            <a:off x="1040130" y="3051810"/>
            <a:ext cx="251460" cy="251460"/>
          </a:xfrm>
          <a:prstGeom prst="rect">
            <a:avLst/>
          </a:prstGeom>
        </p:spPr>
      </p:pic>
      <p:sp>
        <p:nvSpPr>
          <p:cNvPr id="10" name="Text 7"/>
          <p:cNvSpPr txBox="1"/>
          <p:nvPr/>
        </p:nvSpPr>
        <p:spPr>
          <a:xfrm>
            <a:off x="1554480" y="2926080"/>
            <a:ext cx="2331720" cy="502920"/>
          </a:xfrm>
          <a:prstGeom prst="rect">
            <a:avLst/>
          </a:prstGeom>
          <a:noFill/>
          <a:ln/>
        </p:spPr>
        <p:txBody>
          <a:bodyPr wrap="square" lIns="0" tIns="0" rIns="0" bIns="0" rtlCol="0" anchor="ctr"/>
          <a:lstStyle/>
          <a:p>
            <a:pPr marL="0" indent="0">
              <a:buNone/>
            </a:pPr>
            <a:r>
              <a:rPr lang="en-US" sz="1500" b="1" dirty="0">
                <a:solidFill>
                  <a:schemeClr val="accent2"/>
                </a:solidFill>
              </a:rPr>
              <a:t>Documento de control y pruebas</a:t>
            </a:r>
            <a:endParaRPr lang="en-US" sz="1500" dirty="0"/>
          </a:p>
        </p:txBody>
      </p:sp>
      <p:sp>
        <p:nvSpPr>
          <p:cNvPr id="11" name="Text 8"/>
          <p:cNvSpPr txBox="1"/>
          <p:nvPr/>
        </p:nvSpPr>
        <p:spPr>
          <a:xfrm>
            <a:off x="914400" y="3611880"/>
            <a:ext cx="2880360" cy="960120"/>
          </a:xfrm>
          <a:prstGeom prst="rect">
            <a:avLst/>
          </a:prstGeom>
          <a:noFill/>
          <a:ln/>
        </p:spPr>
        <p:txBody>
          <a:bodyPr wrap="square" lIns="0" tIns="0" rIns="0" bIns="0" rtlCol="0" anchor="ctr"/>
          <a:lstStyle/>
          <a:p>
            <a:pPr marL="0" indent="0">
              <a:buNone/>
            </a:pPr>
            <a:r>
              <a:rPr lang="en-US" sz="1300" dirty="0">
                <a:solidFill>
                  <a:schemeClr val="tx2"/>
                </a:solidFill>
              </a:rPr>
              <a:t>Pasar las 10 rondas de pruebas con sus casos, resultados y errores encontrados.</a:t>
            </a:r>
            <a:endParaRPr lang="en-US" sz="1300" dirty="0"/>
          </a:p>
        </p:txBody>
      </p:sp>
      <p:sp>
        <p:nvSpPr>
          <p:cNvPr id="12" name="Shape 9"/>
          <p:cNvSpPr/>
          <p:nvPr/>
        </p:nvSpPr>
        <p:spPr>
          <a:xfrm>
            <a:off x="5806440" y="1874520"/>
            <a:ext cx="548640" cy="548640"/>
          </a:xfrm>
          <a:prstGeom prst="ellipse">
            <a:avLst/>
          </a:prstGeom>
          <a:solidFill>
            <a:schemeClr val="accent1"/>
          </a:solidFill>
          <a:ln w="38100">
            <a:solidFill>
              <a:schemeClr val="bg2"/>
            </a:solidFill>
            <a:prstDash val="solid"/>
          </a:ln>
        </p:spPr>
        <p:txBody>
          <a:bodyPr/>
          <a:lstStyle/>
          <a:p>
            <a:endParaRPr lang="es-CL"/>
          </a:p>
        </p:txBody>
      </p:sp>
      <p:sp>
        <p:nvSpPr>
          <p:cNvPr id="13" name="Text 10"/>
          <p:cNvSpPr txBox="1"/>
          <p:nvPr/>
        </p:nvSpPr>
        <p:spPr>
          <a:xfrm>
            <a:off x="5806440" y="18745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4" name="paso-final-1"/>
          <p:cNvSpPr/>
          <p:nvPr/>
        </p:nvSpPr>
        <p:spPr>
          <a:xfrm>
            <a:off x="4366260" y="2697480"/>
            <a:ext cx="342900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15" name="Shape 12"/>
          <p:cNvSpPr/>
          <p:nvPr/>
        </p:nvSpPr>
        <p:spPr>
          <a:xfrm>
            <a:off x="4640580" y="2926080"/>
            <a:ext cx="502920" cy="502920"/>
          </a:xfrm>
          <a:prstGeom prst="ellipse">
            <a:avLst/>
          </a:prstGeom>
          <a:solidFill>
            <a:schemeClr val="accent2"/>
          </a:solidFill>
          <a:ln w="12700">
            <a:solidFill>
              <a:schemeClr val="accent2"/>
            </a:solidFill>
            <a:prstDash val="solid"/>
          </a:ln>
        </p:spPr>
        <p:txBody>
          <a:bodyPr/>
          <a:lstStyle/>
          <a:p>
            <a:endParaRPr lang="es-CL"/>
          </a:p>
        </p:txBody>
      </p:sp>
      <p:pic>
        <p:nvPicPr>
          <p:cNvPr id="16" name="Image 1" descr="preencoded.png"/>
          <p:cNvPicPr>
            <a:picLocks noChangeAspect="1"/>
          </p:cNvPicPr>
          <p:nvPr/>
        </p:nvPicPr>
        <p:blipFill>
          <a:blip r:embed="rId4"/>
          <a:stretch>
            <a:fillRect/>
          </a:stretch>
        </p:blipFill>
        <p:spPr>
          <a:xfrm>
            <a:off x="4766310" y="3051810"/>
            <a:ext cx="251460" cy="251460"/>
          </a:xfrm>
          <a:prstGeom prst="rect">
            <a:avLst/>
          </a:prstGeom>
        </p:spPr>
      </p:pic>
      <p:sp>
        <p:nvSpPr>
          <p:cNvPr id="17" name="Text 13"/>
          <p:cNvSpPr txBox="1"/>
          <p:nvPr/>
        </p:nvSpPr>
        <p:spPr>
          <a:xfrm>
            <a:off x="5280660" y="2926080"/>
            <a:ext cx="2331720" cy="502920"/>
          </a:xfrm>
          <a:prstGeom prst="rect">
            <a:avLst/>
          </a:prstGeom>
          <a:noFill/>
          <a:ln/>
        </p:spPr>
        <p:txBody>
          <a:bodyPr wrap="square" lIns="0" tIns="0" rIns="0" bIns="0" rtlCol="0" anchor="ctr"/>
          <a:lstStyle/>
          <a:p>
            <a:pPr marL="0" indent="0">
              <a:buNone/>
            </a:pPr>
            <a:r>
              <a:rPr lang="en-US" sz="1500" b="1" dirty="0">
                <a:solidFill>
                  <a:schemeClr val="accent2"/>
                </a:solidFill>
              </a:rPr>
              <a:t>Documentación de cierre</a:t>
            </a:r>
            <a:endParaRPr lang="en-US" sz="1500" dirty="0"/>
          </a:p>
        </p:txBody>
      </p:sp>
      <p:sp>
        <p:nvSpPr>
          <p:cNvPr id="18" name="Text 14"/>
          <p:cNvSpPr txBox="1"/>
          <p:nvPr/>
        </p:nvSpPr>
        <p:spPr>
          <a:xfrm>
            <a:off x="4640580" y="3611880"/>
            <a:ext cx="2880360" cy="960120"/>
          </a:xfrm>
          <a:prstGeom prst="rect">
            <a:avLst/>
          </a:prstGeom>
          <a:noFill/>
          <a:ln/>
        </p:spPr>
        <p:txBody>
          <a:bodyPr wrap="square" lIns="0" tIns="0" rIns="0" bIns="0" rtlCol="0" anchor="ctr"/>
          <a:lstStyle/>
          <a:p>
            <a:pPr marL="0" indent="0">
              <a:buNone/>
            </a:pPr>
            <a:r>
              <a:rPr lang="en-US" sz="1300" dirty="0">
                <a:solidFill>
                  <a:schemeClr val="tx2"/>
                </a:solidFill>
              </a:rPr>
              <a:t>Completar el informe final y la retrospectiva del proyecto.</a:t>
            </a:r>
            <a:endParaRPr lang="en-US" sz="1300" dirty="0"/>
          </a:p>
        </p:txBody>
      </p:sp>
      <p:sp>
        <p:nvSpPr>
          <p:cNvPr id="19" name="Shape 15"/>
          <p:cNvSpPr/>
          <p:nvPr/>
        </p:nvSpPr>
        <p:spPr>
          <a:xfrm>
            <a:off x="9532620" y="1874520"/>
            <a:ext cx="548640" cy="548640"/>
          </a:xfrm>
          <a:prstGeom prst="ellipse">
            <a:avLst/>
          </a:prstGeom>
          <a:solidFill>
            <a:schemeClr val="accent1"/>
          </a:solidFill>
          <a:ln w="38100">
            <a:solidFill>
              <a:schemeClr val="bg2"/>
            </a:solidFill>
            <a:prstDash val="solid"/>
          </a:ln>
        </p:spPr>
        <p:txBody>
          <a:bodyPr/>
          <a:lstStyle/>
          <a:p>
            <a:endParaRPr lang="es-CL"/>
          </a:p>
        </p:txBody>
      </p:sp>
      <p:sp>
        <p:nvSpPr>
          <p:cNvPr id="20" name="Text 16"/>
          <p:cNvSpPr txBox="1"/>
          <p:nvPr/>
        </p:nvSpPr>
        <p:spPr>
          <a:xfrm>
            <a:off x="9532620" y="18745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paso-final-2"/>
          <p:cNvSpPr/>
          <p:nvPr/>
        </p:nvSpPr>
        <p:spPr>
          <a:xfrm>
            <a:off x="8092440" y="2697480"/>
            <a:ext cx="3429000" cy="2011680"/>
          </a:xfrm>
          <a:prstGeom prst="roundRect">
            <a:avLst>
              <a:gd name="adj" fmla="val 3636"/>
            </a:avLst>
          </a:prstGeom>
          <a:solidFill>
            <a:schemeClr val="bg1"/>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2" name="Shape 18"/>
          <p:cNvSpPr/>
          <p:nvPr/>
        </p:nvSpPr>
        <p:spPr>
          <a:xfrm>
            <a:off x="8366760" y="2926080"/>
            <a:ext cx="502920" cy="502920"/>
          </a:xfrm>
          <a:prstGeom prst="ellipse">
            <a:avLst/>
          </a:prstGeom>
          <a:solidFill>
            <a:schemeClr val="accent2"/>
          </a:solidFill>
          <a:ln w="12700">
            <a:solidFill>
              <a:schemeClr val="accent2"/>
            </a:solidFill>
            <a:prstDash val="solid"/>
          </a:ln>
        </p:spPr>
        <p:txBody>
          <a:bodyPr/>
          <a:lstStyle/>
          <a:p>
            <a:endParaRPr lang="es-CL"/>
          </a:p>
        </p:txBody>
      </p:sp>
      <p:pic>
        <p:nvPicPr>
          <p:cNvPr id="23" name="Image 2" descr="preencoded.png"/>
          <p:cNvPicPr>
            <a:picLocks noChangeAspect="1"/>
          </p:cNvPicPr>
          <p:nvPr/>
        </p:nvPicPr>
        <p:blipFill>
          <a:blip r:embed="rId5"/>
          <a:stretch>
            <a:fillRect/>
          </a:stretch>
        </p:blipFill>
        <p:spPr>
          <a:xfrm>
            <a:off x="8492490" y="3051810"/>
            <a:ext cx="251460" cy="251460"/>
          </a:xfrm>
          <a:prstGeom prst="rect">
            <a:avLst/>
          </a:prstGeom>
        </p:spPr>
      </p:pic>
      <p:sp>
        <p:nvSpPr>
          <p:cNvPr id="24" name="Text 19"/>
          <p:cNvSpPr txBox="1"/>
          <p:nvPr/>
        </p:nvSpPr>
        <p:spPr>
          <a:xfrm>
            <a:off x="9006840" y="2926080"/>
            <a:ext cx="2331720" cy="502920"/>
          </a:xfrm>
          <a:prstGeom prst="rect">
            <a:avLst/>
          </a:prstGeom>
          <a:noFill/>
          <a:ln/>
        </p:spPr>
        <p:txBody>
          <a:bodyPr wrap="square" lIns="0" tIns="0" rIns="0" bIns="0" rtlCol="0" anchor="ctr"/>
          <a:lstStyle/>
          <a:p>
            <a:pPr marL="0" indent="0">
              <a:buNone/>
            </a:pPr>
            <a:r>
              <a:rPr lang="en-US" sz="1500" b="1" dirty="0">
                <a:solidFill>
                  <a:schemeClr val="accent2"/>
                </a:solidFill>
              </a:rPr>
              <a:t>Presentación final</a:t>
            </a:r>
            <a:endParaRPr lang="en-US" sz="1500" dirty="0"/>
          </a:p>
        </p:txBody>
      </p:sp>
      <p:sp>
        <p:nvSpPr>
          <p:cNvPr id="25" name="Text 20"/>
          <p:cNvSpPr txBox="1"/>
          <p:nvPr/>
        </p:nvSpPr>
        <p:spPr>
          <a:xfrm>
            <a:off x="8366760" y="3611880"/>
            <a:ext cx="2880360" cy="960120"/>
          </a:xfrm>
          <a:prstGeom prst="rect">
            <a:avLst/>
          </a:prstGeom>
          <a:noFill/>
          <a:ln/>
        </p:spPr>
        <p:txBody>
          <a:bodyPr wrap="square" lIns="0" tIns="0" rIns="0" bIns="0" rtlCol="0" anchor="ctr"/>
          <a:lstStyle/>
          <a:p>
            <a:pPr marL="0" indent="0">
              <a:buNone/>
            </a:pPr>
            <a:r>
              <a:rPr lang="en-US" sz="1300" dirty="0">
                <a:solidFill>
                  <a:schemeClr val="tx2"/>
                </a:solidFill>
              </a:rPr>
              <a:t>Mostrar el sistema completo con datos de prueba, como vecino y como directorio.</a:t>
            </a:r>
            <a:endParaRPr lang="en-US" sz="1300" dirty="0"/>
          </a:p>
        </p:txBody>
      </p:sp>
      <p:sp>
        <p:nvSpPr>
          <p:cNvPr id="26" name="mejora-futura"/>
          <p:cNvSpPr/>
          <p:nvPr/>
        </p:nvSpPr>
        <p:spPr>
          <a:xfrm>
            <a:off x="640080" y="5029200"/>
            <a:ext cx="10881360" cy="960120"/>
          </a:xfrm>
          <a:prstGeom prst="roundRect">
            <a:avLst>
              <a:gd name="adj" fmla="val 7619"/>
            </a:avLst>
          </a:prstGeom>
          <a:solidFill>
            <a:schemeClr val="accent2"/>
          </a:solidFill>
          <a:ln w="9525">
            <a:solidFill>
              <a:schemeClr val="accent6"/>
            </a:solidFill>
            <a:prstDash val="solid"/>
          </a:ln>
          <a:effectLst>
            <a:outerShdw blurRad="101600" dist="25400" dir="5400000" algn="bl" rotWithShape="0">
              <a:srgbClr val="1E2761">
                <a:alpha val="10000"/>
              </a:srgbClr>
            </a:outerShdw>
          </a:effectLst>
        </p:spPr>
        <p:txBody>
          <a:bodyPr/>
          <a:lstStyle/>
          <a:p>
            <a:endParaRPr lang="es-CL"/>
          </a:p>
        </p:txBody>
      </p:sp>
      <p:sp>
        <p:nvSpPr>
          <p:cNvPr id="27" name="Shape 22"/>
          <p:cNvSpPr/>
          <p:nvPr/>
        </p:nvSpPr>
        <p:spPr>
          <a:xfrm>
            <a:off x="914400" y="5257800"/>
            <a:ext cx="502920" cy="502920"/>
          </a:xfrm>
          <a:prstGeom prst="ellipse">
            <a:avLst/>
          </a:prstGeom>
          <a:solidFill>
            <a:schemeClr val="accent1"/>
          </a:solidFill>
          <a:ln w="12700">
            <a:solidFill>
              <a:schemeClr val="accent1"/>
            </a:solidFill>
            <a:prstDash val="solid"/>
          </a:ln>
        </p:spPr>
        <p:txBody>
          <a:bodyPr/>
          <a:lstStyle/>
          <a:p>
            <a:endParaRPr lang="es-CL"/>
          </a:p>
        </p:txBody>
      </p:sp>
      <p:pic>
        <p:nvPicPr>
          <p:cNvPr id="28" name="Image 3" descr="preencoded.png"/>
          <p:cNvPicPr>
            <a:picLocks noChangeAspect="1"/>
          </p:cNvPicPr>
          <p:nvPr/>
        </p:nvPicPr>
        <p:blipFill>
          <a:blip r:embed="rId6"/>
          <a:stretch>
            <a:fillRect/>
          </a:stretch>
        </p:blipFill>
        <p:spPr>
          <a:xfrm>
            <a:off x="1040130" y="5383530"/>
            <a:ext cx="251460" cy="251460"/>
          </a:xfrm>
          <a:prstGeom prst="rect">
            <a:avLst/>
          </a:prstGeom>
        </p:spPr>
      </p:pic>
      <p:sp>
        <p:nvSpPr>
          <p:cNvPr id="29" name="Text 23"/>
          <p:cNvSpPr txBox="1"/>
          <p:nvPr/>
        </p:nvSpPr>
        <p:spPr>
          <a:xfrm>
            <a:off x="1600200" y="5029200"/>
            <a:ext cx="9692640" cy="960120"/>
          </a:xfrm>
          <a:prstGeom prst="rect">
            <a:avLst/>
          </a:prstGeom>
          <a:noFill/>
          <a:ln/>
        </p:spPr>
        <p:txBody>
          <a:bodyPr wrap="square" lIns="0" tIns="0" rIns="0" bIns="0" rtlCol="0" anchor="ctr"/>
          <a:lstStyle/>
          <a:p>
            <a:pPr marL="0" indent="0">
              <a:buNone/>
            </a:pPr>
            <a:r>
              <a:rPr lang="en-US" sz="1400" b="1" dirty="0">
                <a:solidFill>
                  <a:schemeClr val="accent1"/>
                </a:solidFill>
              </a:rPr>
              <a:t>Mejora futura: </a:t>
            </a:r>
            <a:r>
              <a:rPr lang="en-US" sz="1400" dirty="0">
                <a:solidFill>
                  <a:schemeClr val="bg1"/>
                </a:solidFill>
              </a:rPr>
              <a:t>publicar el sistema en un hosting que permita enviar correos, para que las juntas lo usen fuera del entorno local.</a:t>
            </a:r>
            <a:endParaRPr lang="en-US" sz="1400" dirty="0"/>
          </a:p>
        </p:txBody>
      </p:sp>
      <p:sp>
        <p:nvSpPr>
          <p:cNvPr id="30"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641848" y="1828800"/>
            <a:ext cx="914400" cy="914400"/>
          </a:xfrm>
          <a:prstGeom prst="ellipse">
            <a:avLst/>
          </a:prstGeom>
          <a:solidFill>
            <a:schemeClr val="accent1"/>
          </a:solidFill>
          <a:ln w="12700">
            <a:solidFill>
              <a:schemeClr val="accent1"/>
            </a:solidFill>
            <a:prstDash val="solid"/>
          </a:ln>
        </p:spPr>
        <p:txBody>
          <a:bodyPr/>
          <a:lstStyle/>
          <a:p>
            <a:endParaRPr lang="es-CL"/>
          </a:p>
        </p:txBody>
      </p:sp>
      <p:pic>
        <p:nvPicPr>
          <p:cNvPr id="3" name="Image 0" descr="preencoded.png"/>
          <p:cNvPicPr>
            <a:picLocks noChangeAspect="1"/>
          </p:cNvPicPr>
          <p:nvPr/>
        </p:nvPicPr>
        <p:blipFill>
          <a:blip r:embed="rId3"/>
          <a:stretch>
            <a:fillRect/>
          </a:stretch>
        </p:blipFill>
        <p:spPr>
          <a:xfrm>
            <a:off x="5870448" y="2057400"/>
            <a:ext cx="457200" cy="457200"/>
          </a:xfrm>
          <a:prstGeom prst="rect">
            <a:avLst/>
          </a:prstGeom>
        </p:spPr>
      </p:pic>
      <p:sp>
        <p:nvSpPr>
          <p:cNvPr id="4" name="Text 1"/>
          <p:cNvSpPr txBox="1"/>
          <p:nvPr/>
        </p:nvSpPr>
        <p:spPr>
          <a:xfrm>
            <a:off x="822960" y="2880360"/>
            <a:ext cx="10543032" cy="914400"/>
          </a:xfrm>
          <a:prstGeom prst="rect">
            <a:avLst/>
          </a:prstGeom>
          <a:noFill/>
          <a:ln/>
        </p:spPr>
        <p:txBody>
          <a:bodyPr wrap="square" lIns="0" tIns="0" rIns="0" bIns="0" rtlCol="0" anchor="ctr"/>
          <a:lstStyle/>
          <a:p>
            <a:pPr marL="0" indent="0" algn="ctr">
              <a:buNone/>
            </a:pPr>
            <a:r>
              <a:rPr lang="en-US" sz="4400" b="1" dirty="0">
                <a:solidFill>
                  <a:schemeClr val="bg1"/>
                </a:solidFill>
                <a:latin typeface="Cambria" pitchFamily="34" charset="0"/>
                <a:ea typeface="Cambria" pitchFamily="34" charset="-122"/>
                <a:cs typeface="Cambria" pitchFamily="34" charset="-120"/>
              </a:rPr>
              <a:t>Gracias</a:t>
            </a:r>
            <a:endParaRPr lang="en-US" sz="4400" dirty="0"/>
          </a:p>
        </p:txBody>
      </p:sp>
      <p:sp>
        <p:nvSpPr>
          <p:cNvPr id="5" name="Text 2"/>
          <p:cNvSpPr txBox="1"/>
          <p:nvPr/>
        </p:nvSpPr>
        <p:spPr>
          <a:xfrm>
            <a:off x="822960" y="3794760"/>
            <a:ext cx="10543032" cy="457200"/>
          </a:xfrm>
          <a:prstGeom prst="rect">
            <a:avLst/>
          </a:prstGeom>
          <a:noFill/>
          <a:ln/>
        </p:spPr>
        <p:txBody>
          <a:bodyPr wrap="square" lIns="0" tIns="0" rIns="0" bIns="0" rtlCol="0" anchor="ctr"/>
          <a:lstStyle/>
          <a:p>
            <a:pPr marL="0" indent="0" algn="ctr">
              <a:buNone/>
            </a:pPr>
            <a:r>
              <a:rPr lang="en-US" sz="2000" dirty="0">
                <a:solidFill>
                  <a:schemeClr val="accent5"/>
                </a:solidFill>
              </a:rPr>
              <a:t>¿Preguntas?</a:t>
            </a:r>
            <a:endParaRPr lang="en-US" sz="2000" dirty="0"/>
          </a:p>
        </p:txBody>
      </p:sp>
      <p:sp>
        <p:nvSpPr>
          <p:cNvPr id="6" name="Text 3"/>
          <p:cNvSpPr txBox="1"/>
          <p:nvPr/>
        </p:nvSpPr>
        <p:spPr>
          <a:xfrm>
            <a:off x="822960" y="4572000"/>
            <a:ext cx="10543032" cy="365760"/>
          </a:xfrm>
          <a:prstGeom prst="rect">
            <a:avLst/>
          </a:prstGeom>
          <a:noFill/>
          <a:ln/>
        </p:spPr>
        <p:txBody>
          <a:bodyPr wrap="square" lIns="0" tIns="0" rIns="0" bIns="0" rtlCol="0" anchor="ctr"/>
          <a:lstStyle/>
          <a:p>
            <a:pPr marL="0" indent="0" algn="ctr">
              <a:buNone/>
            </a:pPr>
            <a:r>
              <a:rPr lang="en-US" sz="1400" dirty="0">
                <a:solidFill>
                  <a:schemeClr val="accent5"/>
                </a:solidFill>
              </a:rPr>
              <a:t>Matías Rain Cheuquecoy   ·   Daniel Stiven Cruz</a:t>
            </a:r>
            <a:endParaRPr lang="en-US" sz="1400" dirty="0"/>
          </a:p>
        </p:txBody>
      </p:sp>
      <p:sp>
        <p:nvSpPr>
          <p:cNvPr id="8" name="Text 0"/>
          <p:cNvSpPr>
            <a:spLocks noGrp="1"/>
          </p:cNvSpPr>
          <p:nvPr>
            <p:ph type="body" idx="100" hasCustomPrompt="1"/>
          </p:nvPr>
        </p:nvSpPr>
        <p:spPr>
          <a:xfrm>
            <a:off x="822960" y="2103120"/>
            <a:ext cx="9144000" cy="365760"/>
          </a:xfrm>
          <a:prstGeom prst="rect">
            <a:avLst/>
          </a:prstGeom>
          <a:noFill/>
          <a:ln/>
        </p:spPr>
        <p:txBody>
          <a:bodyPr wrap="square" lIns="0" tIns="0" rIns="0" bIns="0" rtlCol="0"/>
          <a:lstStyle/>
          <a:p>
            <a:pPr marL="0" indent="0">
              <a:buNone/>
            </a:pPr>
            <a:endParaRPr lang="en-US" sz="1400" dirty="0"/>
          </a:p>
        </p:txBody>
      </p:sp>
      <p:sp>
        <p:nvSpPr>
          <p:cNvPr id="9" name="Text 0"/>
          <p:cNvSpPr>
            <a:spLocks noGrp="1"/>
          </p:cNvSpPr>
          <p:nvPr>
            <p:ph type="title" idx="101" hasCustomPrompt="1"/>
          </p:nvPr>
        </p:nvSpPr>
        <p:spPr>
          <a:xfrm>
            <a:off x="822960" y="2468880"/>
            <a:ext cx="10515600" cy="914400"/>
          </a:xfrm>
          <a:prstGeom prst="rect">
            <a:avLst/>
          </a:prstGeom>
          <a:noFill/>
          <a:ln/>
        </p:spPr>
        <p:txBody>
          <a:bodyPr wrap="square" lIns="0" tIns="0" rIns="0" bIns="0" rtlCol="0" anchor="ctr"/>
          <a:lstStyle/>
          <a:p>
            <a:pPr marL="0" indent="0" algn="l">
              <a:buNone/>
            </a:pPr>
            <a:endParaRPr lang="en-US" sz="4400" dirty="0"/>
          </a:p>
        </p:txBody>
      </p:sp>
    </p:spTree>
  </p:cSld>
  <p:clrMapOvr>
    <a:masterClrMapping/>
  </p:clrMapOvr>
</p:sld>
</file>

<file path=ppt/theme/theme1.xml><?xml version="1.0" encoding="utf-8"?>
<a:theme xmlns:a="http://schemas.openxmlformats.org/drawingml/2006/main" name="Unidad Territorial">
  <a:themeElements>
    <a:clrScheme name="Unidad Territorial">
      <a:dk1>
        <a:srgbClr val="1E2761"/>
      </a:dk1>
      <a:lt1>
        <a:srgbClr val="FFFFFF"/>
      </a:lt1>
      <a:dk2>
        <a:srgbClr val="6B7A99"/>
      </a:dk2>
      <a:lt2>
        <a:srgbClr val="F6F8FC"/>
      </a:lt2>
      <a:accent1>
        <a:srgbClr val="E8A33D"/>
      </a:accent1>
      <a:accent2>
        <a:srgbClr val="1E2761"/>
      </a:accent2>
      <a:accent3>
        <a:srgbClr val="3E9B5F"/>
      </a:accent3>
      <a:accent4>
        <a:srgbClr val="3B6FD8"/>
      </a:accent4>
      <a:accent5>
        <a:srgbClr val="AAB4CC"/>
      </a:accent5>
      <a:accent6>
        <a:srgbClr val="E2E8F5"/>
      </a:accent6>
      <a:hlink>
        <a:srgbClr val="3B6FD8"/>
      </a:hlink>
      <a:folHlink>
        <a:srgbClr val="6B7A99"/>
      </a:folHlink>
    </a:clrScheme>
    <a:fontScheme name="Unidad Territori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2117</Words>
  <Application>Microsoft Office PowerPoint</Application>
  <PresentationFormat>Panorámica</PresentationFormat>
  <Paragraphs>252</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Cambria</vt:lpstr>
      <vt:lpstr>Unidad Territorial</vt:lpstr>
      <vt:lpstr>Sistema Unidad Territorial</vt:lpstr>
      <vt:lpstr>Pasamos de una propuesta a un sistema que funciona</vt:lpstr>
      <vt:lpstr>Lo que prometimos en la Fase 1 y lo que hace hoy</vt:lpstr>
      <vt:lpstr>Así se movió nuestro tablero Kanban</vt:lpstr>
      <vt:lpstr>Incorporamos las siete mejoras de la revisión de avance</vt:lpstr>
      <vt:lpstr>Cómo quedó construido el sistema</vt:lpstr>
      <vt:lpstr>Varias juntas en un mismo sistema, ahora probado</vt:lpstr>
      <vt:lpstr>Del formulario al certificado verificable</vt:lpstr>
      <vt:lpstr>El sistema funcionando en computador y celular</vt:lpstr>
      <vt:lpstr>Estado de cada actividad del plan de trabajo</vt:lpstr>
      <vt:lpstr>Lo que nos frenó y cómo lo resolvimos</vt:lpstr>
      <vt:lpstr>Lo que falta para la entrega final</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Unidad Territorial — Avance Fase 2</dc:title>
  <dc:subject>PptxGenJS Presentation</dc:subject>
  <dc:creator>Matías Rain Cheuquecoy y Daniel Stiven Cruz</dc:creator>
  <cp:lastModifiedBy>MATIAS ENRIQUE RAIN CHEUQUECOY</cp:lastModifiedBy>
  <cp:revision>2</cp:revision>
  <dcterms:created xsi:type="dcterms:W3CDTF">2026-10-18T16:22:04Z</dcterms:created>
  <dcterms:modified xsi:type="dcterms:W3CDTF">2026-10-18T17:27:42Z</dcterms:modified>
</cp:coreProperties>
</file>